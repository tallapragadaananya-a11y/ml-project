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E38"/>
        </a:solidFill>
      </p:bgPr>
    </p:bg>
    <p:spTree>
      <p:nvGrpSpPr>
        <p:cNvPr id="1" name=""/>
        <p:cNvGrpSpPr/>
        <p:nvPr/>
      </p:nvGrpSpPr>
      <p:grpSpPr>
        <a:xfrm>
          <a:off x="0" y="0"/>
          <a:ext cx="0" cy="0"/>
          <a:chOff x="0" y="0"/>
          <a:chExt cx="0" cy="0"/>
        </a:xfrm>
      </p:grpSpPr>
      <p:sp>
        <p:nvSpPr>
          <p:cNvPr id="2" name="Shape 0"/>
          <p:cNvSpPr/>
          <p:nvPr/>
        </p:nvSpPr>
        <p:spPr>
          <a:xfrm>
            <a:off x="9692640" y="-2011680"/>
            <a:ext cx="5943600" cy="5943600"/>
          </a:xfrm>
          <a:prstGeom prst="ellipse">
            <a:avLst/>
          </a:prstGeom>
          <a:solidFill>
            <a:srgbClr val="182645"/>
          </a:solidFill>
          <a:ln/>
        </p:spPr>
      </p:sp>
      <p:sp>
        <p:nvSpPr>
          <p:cNvPr id="3" name="Shape 1"/>
          <p:cNvSpPr/>
          <p:nvPr/>
        </p:nvSpPr>
        <p:spPr>
          <a:xfrm>
            <a:off x="10607040" y="4206240"/>
            <a:ext cx="3840480" cy="3840480"/>
          </a:xfrm>
          <a:prstGeom prst="ellipse">
            <a:avLst/>
          </a:prstGeom>
          <a:solidFill>
            <a:srgbClr val="182645"/>
          </a:solidFill>
          <a:ln/>
        </p:spPr>
      </p:sp>
      <p:sp>
        <p:nvSpPr>
          <p:cNvPr id="4" name="Shape 2"/>
          <p:cNvSpPr/>
          <p:nvPr/>
        </p:nvSpPr>
        <p:spPr>
          <a:xfrm>
            <a:off x="640080" y="548640"/>
            <a:ext cx="1417320" cy="384048"/>
          </a:xfrm>
          <a:prstGeom prst="roundRect">
            <a:avLst>
              <a:gd name="adj" fmla="val 19048"/>
            </a:avLst>
          </a:prstGeom>
          <a:solidFill>
            <a:srgbClr val="F76C5E"/>
          </a:solidFill>
          <a:ln/>
        </p:spPr>
      </p:sp>
      <p:sp>
        <p:nvSpPr>
          <p:cNvPr id="5" name="Text 3"/>
          <p:cNvSpPr/>
          <p:nvPr/>
        </p:nvSpPr>
        <p:spPr>
          <a:xfrm>
            <a:off x="640080" y="548640"/>
            <a:ext cx="1417320" cy="384048"/>
          </a:xfrm>
          <a:prstGeom prst="rect">
            <a:avLst/>
          </a:prstGeom>
          <a:noFill/>
          <a:ln/>
        </p:spPr>
        <p:txBody>
          <a:bodyPr wrap="square" rtlCol="0" anchor="ctr"/>
          <a:lstStyle/>
          <a:p>
            <a:pPr algn="ctr" indent="0" marL="0">
              <a:buNone/>
            </a:pPr>
            <a:r>
              <a:rPr lang="en-US" sz="1200" b="1" spc="100" kern="0" dirty="0">
                <a:solidFill>
                  <a:srgbClr val="121E38"/>
                </a:solidFill>
                <a:latin typeface="Calibri" pitchFamily="34" charset="0"/>
                <a:ea typeface="Calibri" pitchFamily="34" charset="-122"/>
                <a:cs typeface="Calibri" pitchFamily="34" charset="-120"/>
              </a:rPr>
              <a:t>BATCH 4</a:t>
            </a:r>
            <a:endParaRPr lang="en-US" sz="1200" dirty="0"/>
          </a:p>
        </p:txBody>
      </p:sp>
      <p:sp>
        <p:nvSpPr>
          <p:cNvPr id="6" name="Text 4"/>
          <p:cNvSpPr/>
          <p:nvPr/>
        </p:nvSpPr>
        <p:spPr>
          <a:xfrm>
            <a:off x="640080" y="1965960"/>
            <a:ext cx="10424160" cy="1920240"/>
          </a:xfrm>
          <a:prstGeom prst="rect">
            <a:avLst/>
          </a:prstGeom>
          <a:noFill/>
          <a:ln/>
        </p:spPr>
        <p:txBody>
          <a:bodyPr wrap="square" rtlCol="0" anchor="ctr"/>
          <a:lstStyle/>
          <a:p>
            <a:pPr algn="l" indent="0" marL="0">
              <a:lnSpc>
                <a:spcPct val="108000"/>
              </a:lnSpc>
              <a:buNone/>
            </a:pPr>
            <a:r>
              <a:rPr lang="en-US" sz="4000" b="1" dirty="0">
                <a:solidFill>
                  <a:srgbClr val="FFFFFF"/>
                </a:solidFill>
                <a:latin typeface="Cambria" pitchFamily="34" charset="0"/>
                <a:ea typeface="Cambria" pitchFamily="34" charset="-122"/>
                <a:cs typeface="Cambria" pitchFamily="34" charset="-120"/>
              </a:rPr>
              <a:t>Credit Card Fraud Detection Using Logistic Regression and Isolation-Forest Anomaly</a:t>
            </a:r>
            <a:endParaRPr lang="en-US" sz="4000" dirty="0"/>
          </a:p>
        </p:txBody>
      </p:sp>
      <p:sp>
        <p:nvSpPr>
          <p:cNvPr id="7" name="Text 5"/>
          <p:cNvSpPr/>
          <p:nvPr/>
        </p:nvSpPr>
        <p:spPr>
          <a:xfrm>
            <a:off x="640080" y="3977640"/>
            <a:ext cx="2743200" cy="365760"/>
          </a:xfrm>
          <a:prstGeom prst="rect">
            <a:avLst/>
          </a:prstGeom>
          <a:noFill/>
          <a:ln/>
        </p:spPr>
        <p:txBody>
          <a:bodyPr wrap="square" rtlCol="0" anchor="ctr"/>
          <a:lstStyle/>
          <a:p>
            <a:pPr indent="0" marL="0">
              <a:buNone/>
            </a:pPr>
            <a:r>
              <a:rPr lang="en-US" sz="1300" b="1" spc="100" kern="0" dirty="0">
                <a:solidFill>
                  <a:srgbClr val="F76C5E"/>
                </a:solidFill>
                <a:latin typeface="Calibri" pitchFamily="34" charset="0"/>
                <a:ea typeface="Calibri" pitchFamily="34" charset="-122"/>
                <a:cs typeface="Calibri" pitchFamily="34" charset="-120"/>
              </a:rPr>
              <a:t>Section 8</a:t>
            </a:r>
            <a:endParaRPr lang="en-US" sz="1300" dirty="0"/>
          </a:p>
        </p:txBody>
      </p:sp>
      <p:sp>
        <p:nvSpPr>
          <p:cNvPr id="8" name="Shape 6"/>
          <p:cNvSpPr/>
          <p:nvPr/>
        </p:nvSpPr>
        <p:spPr>
          <a:xfrm>
            <a:off x="640080" y="5120640"/>
            <a:ext cx="5394960" cy="1234440"/>
          </a:xfrm>
          <a:prstGeom prst="roundRect">
            <a:avLst>
              <a:gd name="adj" fmla="val 5926"/>
            </a:avLst>
          </a:prstGeom>
          <a:solidFill>
            <a:srgbClr val="182645"/>
          </a:solidFill>
          <a:ln w="12700">
            <a:solidFill>
              <a:srgbClr val="2A3B5E"/>
            </a:solidFill>
            <a:prstDash val="solid"/>
          </a:ln>
        </p:spPr>
      </p:sp>
      <p:sp>
        <p:nvSpPr>
          <p:cNvPr id="9" name="Text 7"/>
          <p:cNvSpPr/>
          <p:nvPr/>
        </p:nvSpPr>
        <p:spPr>
          <a:xfrm>
            <a:off x="914400" y="5257800"/>
            <a:ext cx="2743200" cy="274320"/>
          </a:xfrm>
          <a:prstGeom prst="rect">
            <a:avLst/>
          </a:prstGeom>
          <a:noFill/>
          <a:ln/>
        </p:spPr>
        <p:txBody>
          <a:bodyPr wrap="square" rtlCol="0" anchor="ctr"/>
          <a:lstStyle/>
          <a:p>
            <a:pPr indent="0" marL="0">
              <a:buNone/>
            </a:pPr>
            <a:r>
              <a:rPr lang="en-US" sz="1100" b="1" spc="100" kern="0" dirty="0">
                <a:solidFill>
                  <a:srgbClr val="F76C5E"/>
                </a:solidFill>
                <a:latin typeface="Calibri" pitchFamily="34" charset="0"/>
                <a:ea typeface="Calibri" pitchFamily="34" charset="-122"/>
                <a:cs typeface="Calibri" pitchFamily="34" charset="-120"/>
              </a:rPr>
              <a:t>TEAM</a:t>
            </a:r>
            <a:endParaRPr lang="en-US" sz="1100" dirty="0"/>
          </a:p>
        </p:txBody>
      </p:sp>
      <p:sp>
        <p:nvSpPr>
          <p:cNvPr id="10" name="Text 8"/>
          <p:cNvSpPr/>
          <p:nvPr/>
        </p:nvSpPr>
        <p:spPr>
          <a:xfrm>
            <a:off x="914400" y="5532120"/>
            <a:ext cx="2560320" cy="73152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Bandi Pranavi</a:t>
            </a:r>
            <a:endParaRPr lang="en-US" sz="1300" dirty="0"/>
          </a:p>
          <a:p>
            <a:pPr indent="0" marL="0">
              <a:buNone/>
            </a:pPr>
            <a:r>
              <a:rPr lang="en-US" sz="1100" dirty="0">
                <a:solidFill>
                  <a:srgbClr val="C7CEE0"/>
                </a:solidFill>
                <a:latin typeface="Calibri" pitchFamily="34" charset="0"/>
                <a:ea typeface="Calibri" pitchFamily="34" charset="-122"/>
                <a:cs typeface="Calibri" pitchFamily="34" charset="-120"/>
              </a:rPr>
              <a:t>Roll No: 2520030026</a:t>
            </a:r>
            <a:endParaRPr lang="en-US" sz="1300" dirty="0"/>
          </a:p>
        </p:txBody>
      </p:sp>
      <p:sp>
        <p:nvSpPr>
          <p:cNvPr id="11" name="Text 9"/>
          <p:cNvSpPr/>
          <p:nvPr/>
        </p:nvSpPr>
        <p:spPr>
          <a:xfrm>
            <a:off x="3566160" y="5532120"/>
            <a:ext cx="2377440" cy="73152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T.S.S.S. Ananya</a:t>
            </a:r>
            <a:endParaRPr lang="en-US" sz="1300" dirty="0"/>
          </a:p>
          <a:p>
            <a:pPr indent="0" marL="0">
              <a:buNone/>
            </a:pPr>
            <a:r>
              <a:rPr lang="en-US" sz="1100" dirty="0">
                <a:solidFill>
                  <a:srgbClr val="C7CEE0"/>
                </a:solidFill>
                <a:latin typeface="Calibri" pitchFamily="34" charset="0"/>
                <a:ea typeface="Calibri" pitchFamily="34" charset="-122"/>
                <a:cs typeface="Calibri" pitchFamily="34" charset="-120"/>
              </a:rPr>
              <a:t>Roll No: 2520030039</a:t>
            </a:r>
            <a:endParaRPr lang="en-US" sz="1300" dirty="0"/>
          </a:p>
        </p:txBody>
      </p:sp>
      <p:sp>
        <p:nvSpPr>
          <p:cNvPr id="12" name="Shape 10"/>
          <p:cNvSpPr/>
          <p:nvPr/>
        </p:nvSpPr>
        <p:spPr>
          <a:xfrm>
            <a:off x="6263640" y="5120640"/>
            <a:ext cx="5257800" cy="1234440"/>
          </a:xfrm>
          <a:prstGeom prst="roundRect">
            <a:avLst>
              <a:gd name="adj" fmla="val 5926"/>
            </a:avLst>
          </a:prstGeom>
          <a:solidFill>
            <a:srgbClr val="182645"/>
          </a:solidFill>
          <a:ln w="12700">
            <a:solidFill>
              <a:srgbClr val="2A3B5E"/>
            </a:solidFill>
            <a:prstDash val="solid"/>
          </a:ln>
        </p:spPr>
      </p:sp>
      <p:sp>
        <p:nvSpPr>
          <p:cNvPr id="13" name="Text 11"/>
          <p:cNvSpPr/>
          <p:nvPr/>
        </p:nvSpPr>
        <p:spPr>
          <a:xfrm>
            <a:off x="6537960" y="5257800"/>
            <a:ext cx="3657600" cy="274320"/>
          </a:xfrm>
          <a:prstGeom prst="rect">
            <a:avLst/>
          </a:prstGeom>
          <a:noFill/>
          <a:ln/>
        </p:spPr>
        <p:txBody>
          <a:bodyPr wrap="square" rtlCol="0" anchor="ctr"/>
          <a:lstStyle/>
          <a:p>
            <a:pPr indent="0" marL="0">
              <a:buNone/>
            </a:pPr>
            <a:r>
              <a:rPr lang="en-US" sz="1100" b="1" spc="100" kern="0" dirty="0">
                <a:solidFill>
                  <a:srgbClr val="F76C5E"/>
                </a:solidFill>
                <a:latin typeface="Calibri" pitchFamily="34" charset="0"/>
                <a:ea typeface="Calibri" pitchFamily="34" charset="-122"/>
                <a:cs typeface="Calibri" pitchFamily="34" charset="-120"/>
              </a:rPr>
              <a:t>UNDER THE GUIDANCE OF</a:t>
            </a:r>
            <a:endParaRPr lang="en-US" sz="1100" dirty="0"/>
          </a:p>
        </p:txBody>
      </p:sp>
      <p:sp>
        <p:nvSpPr>
          <p:cNvPr id="14" name="Text 12"/>
          <p:cNvSpPr/>
          <p:nvPr/>
        </p:nvSpPr>
        <p:spPr>
          <a:xfrm>
            <a:off x="6537960" y="5532120"/>
            <a:ext cx="4114800" cy="73152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Shaik Asif</a:t>
            </a:r>
            <a:endParaRPr lang="en-US" sz="1300" dirty="0"/>
          </a:p>
          <a:p>
            <a:pPr indent="0" marL="0">
              <a:buNone/>
            </a:pPr>
            <a:r>
              <a:rPr lang="en-US" sz="1100" dirty="0">
                <a:solidFill>
                  <a:srgbClr val="C7CEE0"/>
                </a:solidFill>
                <a:latin typeface="Calibri" pitchFamily="34" charset="0"/>
                <a:ea typeface="Calibri" pitchFamily="34" charset="-122"/>
                <a:cs typeface="Calibri" pitchFamily="34" charset="-120"/>
              </a:rPr>
              <a:t>Assistant Professor, CSE</a:t>
            </a:r>
            <a:endParaRPr lang="en-US" sz="1300" dirty="0"/>
          </a:p>
        </p:txBody>
      </p:sp>
      <p:sp>
        <p:nvSpPr>
          <p:cNvPr id="15" name="Text 13"/>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9AA3BD"/>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548640"/>
          </a:xfrm>
          <a:prstGeom prst="rect">
            <a:avLst/>
          </a:prstGeom>
          <a:noFill/>
          <a:ln/>
        </p:spPr>
        <p:txBody>
          <a:bodyPr wrap="square"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Problem Statement</a:t>
            </a:r>
            <a:endParaRPr lang="en-US" sz="3000" dirty="0"/>
          </a:p>
        </p:txBody>
      </p:sp>
      <p:sp>
        <p:nvSpPr>
          <p:cNvPr id="3" name="Shape 1"/>
          <p:cNvSpPr/>
          <p:nvPr/>
        </p:nvSpPr>
        <p:spPr>
          <a:xfrm>
            <a:off x="640080" y="1234440"/>
            <a:ext cx="3520440" cy="1051560"/>
          </a:xfrm>
          <a:prstGeom prst="roundRect">
            <a:avLst>
              <a:gd name="adj" fmla="val 5217"/>
            </a:avLst>
          </a:prstGeom>
          <a:solidFill>
            <a:srgbClr val="F7F7F5"/>
          </a:solidFill>
          <a:ln w="12700">
            <a:solidFill>
              <a:srgbClr val="E3E6EF"/>
            </a:solidFill>
            <a:prstDash val="solid"/>
          </a:ln>
        </p:spPr>
      </p:sp>
      <p:sp>
        <p:nvSpPr>
          <p:cNvPr id="4" name="Text 2"/>
          <p:cNvSpPr/>
          <p:nvPr/>
        </p:nvSpPr>
        <p:spPr>
          <a:xfrm>
            <a:off x="822960" y="1325880"/>
            <a:ext cx="3154680" cy="457200"/>
          </a:xfrm>
          <a:prstGeom prst="rect">
            <a:avLst/>
          </a:prstGeom>
          <a:noFill/>
          <a:ln/>
        </p:spPr>
        <p:txBody>
          <a:bodyPr wrap="square" rtlCol="0" anchor="ctr"/>
          <a:lstStyle/>
          <a:p>
            <a:pPr indent="0" marL="0">
              <a:buNone/>
            </a:pPr>
            <a:r>
              <a:rPr lang="en-US" sz="2200" b="1" dirty="0">
                <a:solidFill>
                  <a:srgbClr val="F76C5E"/>
                </a:solidFill>
                <a:latin typeface="Cambria" pitchFamily="34" charset="0"/>
                <a:ea typeface="Cambria" pitchFamily="34" charset="-122"/>
                <a:cs typeface="Cambria" pitchFamily="34" charset="-120"/>
              </a:rPr>
              <a:t>Binary</a:t>
            </a:r>
            <a:endParaRPr lang="en-US" sz="2200" dirty="0"/>
          </a:p>
        </p:txBody>
      </p:sp>
      <p:sp>
        <p:nvSpPr>
          <p:cNvPr id="5" name="Text 3"/>
          <p:cNvSpPr/>
          <p:nvPr/>
        </p:nvSpPr>
        <p:spPr>
          <a:xfrm>
            <a:off x="822960" y="1783080"/>
            <a:ext cx="3154680" cy="411480"/>
          </a:xfrm>
          <a:prstGeom prst="rect">
            <a:avLst/>
          </a:prstGeom>
          <a:noFill/>
          <a:ln/>
        </p:spPr>
        <p:txBody>
          <a:bodyPr wrap="square" rtlCol="0" anchor="ctr"/>
          <a:lstStyle/>
          <a:p>
            <a:pPr indent="0" marL="0">
              <a:buNone/>
            </a:pPr>
            <a:r>
              <a:rPr lang="en-US" sz="1050" dirty="0">
                <a:solidFill>
                  <a:srgbClr val="44506B"/>
                </a:solidFill>
                <a:latin typeface="Calibri" pitchFamily="34" charset="0"/>
                <a:ea typeface="Calibri" pitchFamily="34" charset="-122"/>
                <a:cs typeface="Calibri" pitchFamily="34" charset="-120"/>
              </a:rPr>
              <a:t>Classification task: Fraud (1) vs Genuine (0)</a:t>
            </a:r>
            <a:endParaRPr lang="en-US" sz="1050" dirty="0"/>
          </a:p>
        </p:txBody>
      </p:sp>
      <p:sp>
        <p:nvSpPr>
          <p:cNvPr id="6" name="Shape 4"/>
          <p:cNvSpPr/>
          <p:nvPr/>
        </p:nvSpPr>
        <p:spPr>
          <a:xfrm>
            <a:off x="4389120" y="1234440"/>
            <a:ext cx="3520440" cy="1051560"/>
          </a:xfrm>
          <a:prstGeom prst="roundRect">
            <a:avLst>
              <a:gd name="adj" fmla="val 5217"/>
            </a:avLst>
          </a:prstGeom>
          <a:solidFill>
            <a:srgbClr val="F7F7F5"/>
          </a:solidFill>
          <a:ln w="12700">
            <a:solidFill>
              <a:srgbClr val="E3E6EF"/>
            </a:solidFill>
            <a:prstDash val="solid"/>
          </a:ln>
        </p:spPr>
      </p:sp>
      <p:sp>
        <p:nvSpPr>
          <p:cNvPr id="7" name="Text 5"/>
          <p:cNvSpPr/>
          <p:nvPr/>
        </p:nvSpPr>
        <p:spPr>
          <a:xfrm>
            <a:off x="4572000" y="1325880"/>
            <a:ext cx="3154680" cy="457200"/>
          </a:xfrm>
          <a:prstGeom prst="rect">
            <a:avLst/>
          </a:prstGeom>
          <a:noFill/>
          <a:ln/>
        </p:spPr>
        <p:txBody>
          <a:bodyPr wrap="square" rtlCol="0" anchor="ctr"/>
          <a:lstStyle/>
          <a:p>
            <a:pPr indent="0" marL="0">
              <a:buNone/>
            </a:pPr>
            <a:r>
              <a:rPr lang="en-US" sz="2200" b="1" dirty="0">
                <a:solidFill>
                  <a:srgbClr val="F76C5E"/>
                </a:solidFill>
                <a:latin typeface="Cambria" pitchFamily="34" charset="0"/>
                <a:ea typeface="Cambria" pitchFamily="34" charset="-122"/>
                <a:cs typeface="Cambria" pitchFamily="34" charset="-120"/>
              </a:rPr>
              <a:t>2 Techniques</a:t>
            </a:r>
            <a:endParaRPr lang="en-US" sz="2200" dirty="0"/>
          </a:p>
        </p:txBody>
      </p:sp>
      <p:sp>
        <p:nvSpPr>
          <p:cNvPr id="8" name="Text 6"/>
          <p:cNvSpPr/>
          <p:nvPr/>
        </p:nvSpPr>
        <p:spPr>
          <a:xfrm>
            <a:off x="4572000" y="1783080"/>
            <a:ext cx="3154680" cy="411480"/>
          </a:xfrm>
          <a:prstGeom prst="rect">
            <a:avLst/>
          </a:prstGeom>
          <a:noFill/>
          <a:ln/>
        </p:spPr>
        <p:txBody>
          <a:bodyPr wrap="square" rtlCol="0" anchor="ctr"/>
          <a:lstStyle/>
          <a:p>
            <a:pPr indent="0" marL="0">
              <a:buNone/>
            </a:pPr>
            <a:r>
              <a:rPr lang="en-US" sz="1050" dirty="0">
                <a:solidFill>
                  <a:srgbClr val="44506B"/>
                </a:solidFill>
                <a:latin typeface="Calibri" pitchFamily="34" charset="0"/>
                <a:ea typeface="Calibri" pitchFamily="34" charset="-122"/>
                <a:cs typeface="Calibri" pitchFamily="34" charset="-120"/>
              </a:rPr>
              <a:t>Logistic Regression + Isolation Forest (hybrid)</a:t>
            </a:r>
            <a:endParaRPr lang="en-US" sz="1050" dirty="0"/>
          </a:p>
        </p:txBody>
      </p:sp>
      <p:sp>
        <p:nvSpPr>
          <p:cNvPr id="9" name="Shape 7"/>
          <p:cNvSpPr/>
          <p:nvPr/>
        </p:nvSpPr>
        <p:spPr>
          <a:xfrm>
            <a:off x="8138160" y="1234440"/>
            <a:ext cx="3520440" cy="1051560"/>
          </a:xfrm>
          <a:prstGeom prst="roundRect">
            <a:avLst>
              <a:gd name="adj" fmla="val 5217"/>
            </a:avLst>
          </a:prstGeom>
          <a:solidFill>
            <a:srgbClr val="F7F7F5"/>
          </a:solidFill>
          <a:ln w="12700">
            <a:solidFill>
              <a:srgbClr val="E3E6EF"/>
            </a:solidFill>
            <a:prstDash val="solid"/>
          </a:ln>
        </p:spPr>
      </p:sp>
      <p:sp>
        <p:nvSpPr>
          <p:cNvPr id="10" name="Text 8"/>
          <p:cNvSpPr/>
          <p:nvPr/>
        </p:nvSpPr>
        <p:spPr>
          <a:xfrm>
            <a:off x="8321040" y="1325880"/>
            <a:ext cx="3154680" cy="457200"/>
          </a:xfrm>
          <a:prstGeom prst="rect">
            <a:avLst/>
          </a:prstGeom>
          <a:noFill/>
          <a:ln/>
        </p:spPr>
        <p:txBody>
          <a:bodyPr wrap="square" rtlCol="0" anchor="ctr"/>
          <a:lstStyle/>
          <a:p>
            <a:pPr indent="0" marL="0">
              <a:buNone/>
            </a:pPr>
            <a:r>
              <a:rPr lang="en-US" sz="2200" b="1" dirty="0">
                <a:solidFill>
                  <a:srgbClr val="F76C5E"/>
                </a:solidFill>
                <a:latin typeface="Cambria" pitchFamily="34" charset="0"/>
                <a:ea typeface="Cambria" pitchFamily="34" charset="-122"/>
                <a:cs typeface="Cambria" pitchFamily="34" charset="-120"/>
              </a:rPr>
              <a:t>5 Metrics</a:t>
            </a:r>
            <a:endParaRPr lang="en-US" sz="2200" dirty="0"/>
          </a:p>
        </p:txBody>
      </p:sp>
      <p:sp>
        <p:nvSpPr>
          <p:cNvPr id="11" name="Text 9"/>
          <p:cNvSpPr/>
          <p:nvPr/>
        </p:nvSpPr>
        <p:spPr>
          <a:xfrm>
            <a:off x="8321040" y="1783080"/>
            <a:ext cx="3154680" cy="411480"/>
          </a:xfrm>
          <a:prstGeom prst="rect">
            <a:avLst/>
          </a:prstGeom>
          <a:noFill/>
          <a:ln/>
        </p:spPr>
        <p:txBody>
          <a:bodyPr wrap="square" rtlCol="0" anchor="ctr"/>
          <a:lstStyle/>
          <a:p>
            <a:pPr indent="0" marL="0">
              <a:buNone/>
            </a:pPr>
            <a:r>
              <a:rPr lang="en-US" sz="1050" dirty="0">
                <a:solidFill>
                  <a:srgbClr val="44506B"/>
                </a:solidFill>
                <a:latin typeface="Calibri" pitchFamily="34" charset="0"/>
                <a:ea typeface="Calibri" pitchFamily="34" charset="-122"/>
                <a:cs typeface="Calibri" pitchFamily="34" charset="-120"/>
              </a:rPr>
              <a:t>Accuracy · Precision · Recall · F1 · ROC-AUC</a:t>
            </a:r>
            <a:endParaRPr lang="en-US" sz="1050" dirty="0"/>
          </a:p>
        </p:txBody>
      </p:sp>
      <p:sp>
        <p:nvSpPr>
          <p:cNvPr id="12" name="Shape 10"/>
          <p:cNvSpPr/>
          <p:nvPr/>
        </p:nvSpPr>
        <p:spPr>
          <a:xfrm>
            <a:off x="640080" y="2606040"/>
            <a:ext cx="5349240" cy="960120"/>
          </a:xfrm>
          <a:prstGeom prst="roundRect">
            <a:avLst>
              <a:gd name="adj" fmla="val 5714"/>
            </a:avLst>
          </a:prstGeom>
          <a:solidFill>
            <a:srgbClr val="FFFFFF"/>
          </a:solidFill>
          <a:ln w="12700">
            <a:solidFill>
              <a:srgbClr val="E3E6EF"/>
            </a:solidFill>
            <a:prstDash val="solid"/>
          </a:ln>
          <a:effectLst>
            <a:outerShdw sx="100000" sy="100000" kx="0" ky="0" algn="bl" rotWithShape="0" blurRad="101600" dist="25400" dir="5400000">
              <a:srgbClr val="1B2A4A">
                <a:alpha val="12000"/>
              </a:srgbClr>
            </a:outerShdw>
          </a:effectLst>
        </p:spPr>
      </p:sp>
      <p:sp>
        <p:nvSpPr>
          <p:cNvPr id="13" name="Shape 11"/>
          <p:cNvSpPr/>
          <p:nvPr/>
        </p:nvSpPr>
        <p:spPr>
          <a:xfrm>
            <a:off x="841248" y="2770632"/>
            <a:ext cx="54864" cy="621792"/>
          </a:xfrm>
          <a:prstGeom prst="rect">
            <a:avLst/>
          </a:prstGeom>
          <a:solidFill>
            <a:srgbClr val="F2B134"/>
          </a:solidFill>
          <a:ln/>
        </p:spPr>
      </p:sp>
      <p:sp>
        <p:nvSpPr>
          <p:cNvPr id="14" name="Text 12"/>
          <p:cNvSpPr/>
          <p:nvPr/>
        </p:nvSpPr>
        <p:spPr>
          <a:xfrm>
            <a:off x="1051560" y="2724912"/>
            <a:ext cx="4754880" cy="27432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Target variable</a:t>
            </a:r>
            <a:endParaRPr lang="en-US" sz="1300" dirty="0"/>
          </a:p>
        </p:txBody>
      </p:sp>
      <p:sp>
        <p:nvSpPr>
          <p:cNvPr id="15" name="Text 13"/>
          <p:cNvSpPr/>
          <p:nvPr/>
        </p:nvSpPr>
        <p:spPr>
          <a:xfrm>
            <a:off x="1051560" y="3017520"/>
            <a:ext cx="4754880" cy="502920"/>
          </a:xfrm>
          <a:prstGeom prst="rect">
            <a:avLst/>
          </a:prstGeom>
          <a:noFill/>
          <a:ln/>
        </p:spPr>
        <p:txBody>
          <a:bodyPr wrap="square" rtlCol="0" anchor="ctr"/>
          <a:lstStyle/>
          <a:p>
            <a:pPr indent="0" marL="0">
              <a:lnSpc>
                <a:spcPct val="105000"/>
              </a:lnSpc>
              <a:buNone/>
            </a:pPr>
            <a:r>
              <a:rPr lang="en-US" sz="1050" dirty="0">
                <a:solidFill>
                  <a:srgbClr val="44506B"/>
                </a:solidFill>
                <a:latin typeface="Calibri" pitchFamily="34" charset="0"/>
                <a:ea typeface="Calibri" pitchFamily="34" charset="-122"/>
                <a:cs typeface="Calibri" pitchFamily="34" charset="-120"/>
              </a:rPr>
              <a:t>Transaction outcome — fraudulent (1) or genuine (0) — from the Class column.</a:t>
            </a:r>
            <a:endParaRPr lang="en-US" sz="1050" dirty="0"/>
          </a:p>
        </p:txBody>
      </p:sp>
      <p:sp>
        <p:nvSpPr>
          <p:cNvPr id="16" name="Shape 14"/>
          <p:cNvSpPr/>
          <p:nvPr/>
        </p:nvSpPr>
        <p:spPr>
          <a:xfrm>
            <a:off x="6217920" y="2606040"/>
            <a:ext cx="5349240" cy="960120"/>
          </a:xfrm>
          <a:prstGeom prst="roundRect">
            <a:avLst>
              <a:gd name="adj" fmla="val 5714"/>
            </a:avLst>
          </a:prstGeom>
          <a:solidFill>
            <a:srgbClr val="FFFFFF"/>
          </a:solidFill>
          <a:ln w="12700">
            <a:solidFill>
              <a:srgbClr val="E3E6EF"/>
            </a:solidFill>
            <a:prstDash val="solid"/>
          </a:ln>
          <a:effectLst>
            <a:outerShdw sx="100000" sy="100000" kx="0" ky="0" algn="bl" rotWithShape="0" blurRad="101600" dist="25400" dir="5400000">
              <a:srgbClr val="1B2A4A">
                <a:alpha val="12000"/>
              </a:srgbClr>
            </a:outerShdw>
          </a:effectLst>
        </p:spPr>
      </p:sp>
      <p:sp>
        <p:nvSpPr>
          <p:cNvPr id="17" name="Shape 15"/>
          <p:cNvSpPr/>
          <p:nvPr/>
        </p:nvSpPr>
        <p:spPr>
          <a:xfrm>
            <a:off x="6419088" y="2770632"/>
            <a:ext cx="54864" cy="621792"/>
          </a:xfrm>
          <a:prstGeom prst="rect">
            <a:avLst/>
          </a:prstGeom>
          <a:solidFill>
            <a:srgbClr val="F2B134"/>
          </a:solidFill>
          <a:ln/>
        </p:spPr>
      </p:sp>
      <p:sp>
        <p:nvSpPr>
          <p:cNvPr id="18" name="Text 16"/>
          <p:cNvSpPr/>
          <p:nvPr/>
        </p:nvSpPr>
        <p:spPr>
          <a:xfrm>
            <a:off x="6629400" y="2724912"/>
            <a:ext cx="4754880" cy="27432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Input features</a:t>
            </a:r>
            <a:endParaRPr lang="en-US" sz="1300" dirty="0"/>
          </a:p>
        </p:txBody>
      </p:sp>
      <p:sp>
        <p:nvSpPr>
          <p:cNvPr id="19" name="Text 17"/>
          <p:cNvSpPr/>
          <p:nvPr/>
        </p:nvSpPr>
        <p:spPr>
          <a:xfrm>
            <a:off x="6629400" y="3017520"/>
            <a:ext cx="4754880" cy="502920"/>
          </a:xfrm>
          <a:prstGeom prst="rect">
            <a:avLst/>
          </a:prstGeom>
          <a:noFill/>
          <a:ln/>
        </p:spPr>
        <p:txBody>
          <a:bodyPr wrap="square" rtlCol="0" anchor="ctr"/>
          <a:lstStyle/>
          <a:p>
            <a:pPr indent="0" marL="0">
              <a:lnSpc>
                <a:spcPct val="105000"/>
              </a:lnSpc>
              <a:buNone/>
            </a:pPr>
            <a:r>
              <a:rPr lang="en-US" sz="1050" dirty="0">
                <a:solidFill>
                  <a:srgbClr val="44506B"/>
                </a:solidFill>
                <a:latin typeface="Calibri" pitchFamily="34" charset="0"/>
                <a:ea typeface="Calibri" pitchFamily="34" charset="-122"/>
                <a:cs typeface="Calibri" pitchFamily="34" charset="-120"/>
              </a:rPr>
              <a:t>28 PCA-anonymized features (V1–V28), transaction Time, and transaction Amount.</a:t>
            </a:r>
            <a:endParaRPr lang="en-US" sz="1050" dirty="0"/>
          </a:p>
        </p:txBody>
      </p:sp>
      <p:sp>
        <p:nvSpPr>
          <p:cNvPr id="20" name="Shape 18"/>
          <p:cNvSpPr/>
          <p:nvPr/>
        </p:nvSpPr>
        <p:spPr>
          <a:xfrm>
            <a:off x="640080" y="3794760"/>
            <a:ext cx="5349240" cy="960120"/>
          </a:xfrm>
          <a:prstGeom prst="roundRect">
            <a:avLst>
              <a:gd name="adj" fmla="val 5714"/>
            </a:avLst>
          </a:prstGeom>
          <a:solidFill>
            <a:srgbClr val="FFFFFF"/>
          </a:solidFill>
          <a:ln w="12700">
            <a:solidFill>
              <a:srgbClr val="E3E6EF"/>
            </a:solidFill>
            <a:prstDash val="solid"/>
          </a:ln>
          <a:effectLst>
            <a:outerShdw sx="100000" sy="100000" kx="0" ky="0" algn="bl" rotWithShape="0" blurRad="101600" dist="25400" dir="5400000">
              <a:srgbClr val="1B2A4A">
                <a:alpha val="12000"/>
              </a:srgbClr>
            </a:outerShdw>
          </a:effectLst>
        </p:spPr>
      </p:sp>
      <p:sp>
        <p:nvSpPr>
          <p:cNvPr id="21" name="Shape 19"/>
          <p:cNvSpPr/>
          <p:nvPr/>
        </p:nvSpPr>
        <p:spPr>
          <a:xfrm>
            <a:off x="841248" y="3959352"/>
            <a:ext cx="54864" cy="621792"/>
          </a:xfrm>
          <a:prstGeom prst="rect">
            <a:avLst/>
          </a:prstGeom>
          <a:solidFill>
            <a:srgbClr val="F2B134"/>
          </a:solidFill>
          <a:ln/>
        </p:spPr>
      </p:sp>
      <p:sp>
        <p:nvSpPr>
          <p:cNvPr id="22" name="Text 20"/>
          <p:cNvSpPr/>
          <p:nvPr/>
        </p:nvSpPr>
        <p:spPr>
          <a:xfrm>
            <a:off x="1051560" y="3913632"/>
            <a:ext cx="4754880" cy="27432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Why it matters</a:t>
            </a:r>
            <a:endParaRPr lang="en-US" sz="1300" dirty="0"/>
          </a:p>
        </p:txBody>
      </p:sp>
      <p:sp>
        <p:nvSpPr>
          <p:cNvPr id="23" name="Text 21"/>
          <p:cNvSpPr/>
          <p:nvPr/>
        </p:nvSpPr>
        <p:spPr>
          <a:xfrm>
            <a:off x="1051560" y="4206240"/>
            <a:ext cx="4754880" cy="502920"/>
          </a:xfrm>
          <a:prstGeom prst="rect">
            <a:avLst/>
          </a:prstGeom>
          <a:noFill/>
          <a:ln/>
        </p:spPr>
        <p:txBody>
          <a:bodyPr wrap="square" rtlCol="0" anchor="ctr"/>
          <a:lstStyle/>
          <a:p>
            <a:pPr indent="0" marL="0">
              <a:lnSpc>
                <a:spcPct val="105000"/>
              </a:lnSpc>
              <a:buNone/>
            </a:pPr>
            <a:r>
              <a:rPr lang="en-US" sz="1050" dirty="0">
                <a:solidFill>
                  <a:srgbClr val="44506B"/>
                </a:solidFill>
                <a:latin typeface="Calibri" pitchFamily="34" charset="0"/>
                <a:ea typeface="Calibri" pitchFamily="34" charset="-122"/>
                <a:cs typeface="Calibri" pitchFamily="34" charset="-120"/>
              </a:rPr>
              <a:t>Fraud is rare (~0.17% of transactions) and constantly evolving; rule-based systems miss new patterns that ML can catch.</a:t>
            </a:r>
            <a:endParaRPr lang="en-US" sz="1050" dirty="0"/>
          </a:p>
        </p:txBody>
      </p:sp>
      <p:sp>
        <p:nvSpPr>
          <p:cNvPr id="24" name="Shape 22"/>
          <p:cNvSpPr/>
          <p:nvPr/>
        </p:nvSpPr>
        <p:spPr>
          <a:xfrm>
            <a:off x="6217920" y="3794760"/>
            <a:ext cx="5349240" cy="960120"/>
          </a:xfrm>
          <a:prstGeom prst="roundRect">
            <a:avLst>
              <a:gd name="adj" fmla="val 5714"/>
            </a:avLst>
          </a:prstGeom>
          <a:solidFill>
            <a:srgbClr val="FFFFFF"/>
          </a:solidFill>
          <a:ln w="12700">
            <a:solidFill>
              <a:srgbClr val="E3E6EF"/>
            </a:solidFill>
            <a:prstDash val="solid"/>
          </a:ln>
          <a:effectLst>
            <a:outerShdw sx="100000" sy="100000" kx="0" ky="0" algn="bl" rotWithShape="0" blurRad="101600" dist="25400" dir="5400000">
              <a:srgbClr val="1B2A4A">
                <a:alpha val="12000"/>
              </a:srgbClr>
            </a:outerShdw>
          </a:effectLst>
        </p:spPr>
      </p:sp>
      <p:sp>
        <p:nvSpPr>
          <p:cNvPr id="25" name="Shape 23"/>
          <p:cNvSpPr/>
          <p:nvPr/>
        </p:nvSpPr>
        <p:spPr>
          <a:xfrm>
            <a:off x="6419088" y="3959352"/>
            <a:ext cx="54864" cy="621792"/>
          </a:xfrm>
          <a:prstGeom prst="rect">
            <a:avLst/>
          </a:prstGeom>
          <a:solidFill>
            <a:srgbClr val="F2B134"/>
          </a:solidFill>
          <a:ln/>
        </p:spPr>
      </p:sp>
      <p:sp>
        <p:nvSpPr>
          <p:cNvPr id="26" name="Text 24"/>
          <p:cNvSpPr/>
          <p:nvPr/>
        </p:nvSpPr>
        <p:spPr>
          <a:xfrm>
            <a:off x="6629400" y="3913632"/>
            <a:ext cx="4754880" cy="27432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Project goal</a:t>
            </a:r>
            <a:endParaRPr lang="en-US" sz="1300" dirty="0"/>
          </a:p>
        </p:txBody>
      </p:sp>
      <p:sp>
        <p:nvSpPr>
          <p:cNvPr id="27" name="Text 25"/>
          <p:cNvSpPr/>
          <p:nvPr/>
        </p:nvSpPr>
        <p:spPr>
          <a:xfrm>
            <a:off x="6629400" y="4206240"/>
            <a:ext cx="4754880" cy="502920"/>
          </a:xfrm>
          <a:prstGeom prst="rect">
            <a:avLst/>
          </a:prstGeom>
          <a:noFill/>
          <a:ln/>
        </p:spPr>
        <p:txBody>
          <a:bodyPr wrap="square" rtlCol="0" anchor="ctr"/>
          <a:lstStyle/>
          <a:p>
            <a:pPr indent="0" marL="0">
              <a:lnSpc>
                <a:spcPct val="105000"/>
              </a:lnSpc>
              <a:buNone/>
            </a:pPr>
            <a:r>
              <a:rPr lang="en-US" sz="1050" dirty="0">
                <a:solidFill>
                  <a:srgbClr val="44506B"/>
                </a:solidFill>
                <a:latin typeface="Calibri" pitchFamily="34" charset="0"/>
                <a:ea typeface="Calibri" pitchFamily="34" charset="-122"/>
                <a:cs typeface="Calibri" pitchFamily="34" charset="-120"/>
              </a:rPr>
              <a:t>Combine an interpretable supervised model (Logistic Regression) with an unsupervised anomaly detector (Isolation Forest) to catch both known and novel fraud.</a:t>
            </a:r>
            <a:endParaRPr lang="en-US" sz="1050" dirty="0"/>
          </a:p>
        </p:txBody>
      </p:sp>
      <p:sp>
        <p:nvSpPr>
          <p:cNvPr id="28" name="Text 26"/>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9AA3BD"/>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548640"/>
          </a:xfrm>
          <a:prstGeom prst="rect">
            <a:avLst/>
          </a:prstGeom>
          <a:noFill/>
          <a:ln/>
        </p:spPr>
        <p:txBody>
          <a:bodyPr wrap="square"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Dataset Identification</a:t>
            </a:r>
            <a:endParaRPr lang="en-US" sz="3000" dirty="0"/>
          </a:p>
        </p:txBody>
      </p:sp>
      <p:sp>
        <p:nvSpPr>
          <p:cNvPr id="3" name="Text 1"/>
          <p:cNvSpPr/>
          <p:nvPr/>
        </p:nvSpPr>
        <p:spPr>
          <a:xfrm>
            <a:off x="640080" y="1097280"/>
            <a:ext cx="10881360" cy="685800"/>
          </a:xfrm>
          <a:prstGeom prst="rect">
            <a:avLst/>
          </a:prstGeom>
          <a:noFill/>
          <a:ln/>
        </p:spPr>
        <p:txBody>
          <a:bodyPr wrap="square" rtlCol="0" anchor="t"/>
          <a:lstStyle/>
          <a:p>
            <a:pPr indent="0" marL="0">
              <a:buNone/>
            </a:pPr>
            <a:r>
              <a:rPr lang="en-US" sz="1500" b="1" dirty="0">
                <a:solidFill>
                  <a:srgbClr val="1B2A4A"/>
                </a:solidFill>
                <a:latin typeface="Calibri" pitchFamily="34" charset="0"/>
                <a:ea typeface="Calibri" pitchFamily="34" charset="-122"/>
                <a:cs typeface="Calibri" pitchFamily="34" charset="-120"/>
              </a:rPr>
              <a:t>Credit Card Fraud Detection Dataset</a:t>
            </a:r>
            <a:endParaRPr lang="en-US" sz="1500" dirty="0"/>
          </a:p>
          <a:p>
            <a:pPr indent="0" marL="0">
              <a:buNone/>
            </a:pPr>
            <a:r>
              <a:rPr lang="en-US" sz="1150" dirty="0">
                <a:solidFill>
                  <a:srgbClr val="44506B"/>
                </a:solidFill>
                <a:latin typeface="Calibri" pitchFamily="34" charset="0"/>
                <a:ea typeface="Calibri" pitchFamily="34" charset="-122"/>
                <a:cs typeface="Calibri" pitchFamily="34" charset="-120"/>
              </a:rPr>
              <a:t>Source: Kaggle — anonymized European cardholder transactions collected over two days in September 2013.</a:t>
            </a:r>
            <a:endParaRPr lang="en-US" sz="1500" dirty="0"/>
          </a:p>
        </p:txBody>
      </p:sp>
      <p:sp>
        <p:nvSpPr>
          <p:cNvPr id="4" name="Shape 2"/>
          <p:cNvSpPr/>
          <p:nvPr/>
        </p:nvSpPr>
        <p:spPr>
          <a:xfrm>
            <a:off x="640080" y="1965960"/>
            <a:ext cx="3520440" cy="914400"/>
          </a:xfrm>
          <a:prstGeom prst="roundRect">
            <a:avLst>
              <a:gd name="adj" fmla="val 6000"/>
            </a:avLst>
          </a:prstGeom>
          <a:solidFill>
            <a:srgbClr val="F7F7F5"/>
          </a:solidFill>
          <a:ln w="12700">
            <a:solidFill>
              <a:srgbClr val="E3E6EF"/>
            </a:solidFill>
            <a:prstDash val="solid"/>
          </a:ln>
        </p:spPr>
      </p:sp>
      <p:sp>
        <p:nvSpPr>
          <p:cNvPr id="5" name="Text 3"/>
          <p:cNvSpPr/>
          <p:nvPr/>
        </p:nvSpPr>
        <p:spPr>
          <a:xfrm>
            <a:off x="822960" y="2029968"/>
            <a:ext cx="3154680" cy="411480"/>
          </a:xfrm>
          <a:prstGeom prst="rect">
            <a:avLst/>
          </a:prstGeom>
          <a:noFill/>
          <a:ln/>
        </p:spPr>
        <p:txBody>
          <a:bodyPr wrap="square" rtlCol="0" anchor="ctr"/>
          <a:lstStyle/>
          <a:p>
            <a:pPr indent="0" marL="0">
              <a:buNone/>
            </a:pPr>
            <a:r>
              <a:rPr lang="en-US" sz="2000" b="1" dirty="0">
                <a:solidFill>
                  <a:srgbClr val="F76C5E"/>
                </a:solidFill>
                <a:latin typeface="Cambria" pitchFamily="34" charset="0"/>
                <a:ea typeface="Cambria" pitchFamily="34" charset="-122"/>
                <a:cs typeface="Cambria" pitchFamily="34" charset="-120"/>
              </a:rPr>
              <a:t>284,807 × 31</a:t>
            </a:r>
            <a:endParaRPr lang="en-US" sz="2000" dirty="0"/>
          </a:p>
        </p:txBody>
      </p:sp>
      <p:sp>
        <p:nvSpPr>
          <p:cNvPr id="6" name="Text 4"/>
          <p:cNvSpPr/>
          <p:nvPr/>
        </p:nvSpPr>
        <p:spPr>
          <a:xfrm>
            <a:off x="822960" y="2423160"/>
            <a:ext cx="3154680" cy="365760"/>
          </a:xfrm>
          <a:prstGeom prst="rect">
            <a:avLst/>
          </a:prstGeom>
          <a:noFill/>
          <a:ln/>
        </p:spPr>
        <p:txBody>
          <a:bodyPr wrap="square" rtlCol="0" anchor="ctr"/>
          <a:lstStyle/>
          <a:p>
            <a:pPr indent="0" marL="0">
              <a:buNone/>
            </a:pPr>
            <a:r>
              <a:rPr lang="en-US" sz="1050" dirty="0">
                <a:solidFill>
                  <a:srgbClr val="44506B"/>
                </a:solidFill>
                <a:latin typeface="Calibri" pitchFamily="34" charset="0"/>
                <a:ea typeface="Calibri" pitchFamily="34" charset="-122"/>
                <a:cs typeface="Calibri" pitchFamily="34" charset="-120"/>
              </a:rPr>
              <a:t>creditcard.csv — rows × columns</a:t>
            </a:r>
            <a:endParaRPr lang="en-US" sz="1050" dirty="0"/>
          </a:p>
        </p:txBody>
      </p:sp>
      <p:sp>
        <p:nvSpPr>
          <p:cNvPr id="7" name="Shape 5"/>
          <p:cNvSpPr/>
          <p:nvPr/>
        </p:nvSpPr>
        <p:spPr>
          <a:xfrm>
            <a:off x="4389120" y="1965960"/>
            <a:ext cx="3520440" cy="914400"/>
          </a:xfrm>
          <a:prstGeom prst="roundRect">
            <a:avLst>
              <a:gd name="adj" fmla="val 6000"/>
            </a:avLst>
          </a:prstGeom>
          <a:solidFill>
            <a:srgbClr val="F7F7F5"/>
          </a:solidFill>
          <a:ln w="12700">
            <a:solidFill>
              <a:srgbClr val="E3E6EF"/>
            </a:solidFill>
            <a:prstDash val="solid"/>
          </a:ln>
        </p:spPr>
      </p:sp>
      <p:sp>
        <p:nvSpPr>
          <p:cNvPr id="8" name="Text 6"/>
          <p:cNvSpPr/>
          <p:nvPr/>
        </p:nvSpPr>
        <p:spPr>
          <a:xfrm>
            <a:off x="4572000" y="2029968"/>
            <a:ext cx="3154680" cy="411480"/>
          </a:xfrm>
          <a:prstGeom prst="rect">
            <a:avLst/>
          </a:prstGeom>
          <a:noFill/>
          <a:ln/>
        </p:spPr>
        <p:txBody>
          <a:bodyPr wrap="square" rtlCol="0" anchor="ctr"/>
          <a:lstStyle/>
          <a:p>
            <a:pPr indent="0" marL="0">
              <a:buNone/>
            </a:pPr>
            <a:r>
              <a:rPr lang="en-US" sz="2000" b="1" dirty="0">
                <a:solidFill>
                  <a:srgbClr val="F76C5E"/>
                </a:solidFill>
                <a:latin typeface="Cambria" pitchFamily="34" charset="0"/>
                <a:ea typeface="Cambria" pitchFamily="34" charset="-122"/>
                <a:cs typeface="Cambria" pitchFamily="34" charset="-120"/>
              </a:rPr>
              <a:t>492</a:t>
            </a:r>
            <a:endParaRPr lang="en-US" sz="2000" dirty="0"/>
          </a:p>
        </p:txBody>
      </p:sp>
      <p:sp>
        <p:nvSpPr>
          <p:cNvPr id="9" name="Text 7"/>
          <p:cNvSpPr/>
          <p:nvPr/>
        </p:nvSpPr>
        <p:spPr>
          <a:xfrm>
            <a:off x="4572000" y="2423160"/>
            <a:ext cx="3154680" cy="365760"/>
          </a:xfrm>
          <a:prstGeom prst="rect">
            <a:avLst/>
          </a:prstGeom>
          <a:noFill/>
          <a:ln/>
        </p:spPr>
        <p:txBody>
          <a:bodyPr wrap="square" rtlCol="0" anchor="ctr"/>
          <a:lstStyle/>
          <a:p>
            <a:pPr indent="0" marL="0">
              <a:buNone/>
            </a:pPr>
            <a:r>
              <a:rPr lang="en-US" sz="1050" dirty="0">
                <a:solidFill>
                  <a:srgbClr val="44506B"/>
                </a:solidFill>
                <a:latin typeface="Calibri" pitchFamily="34" charset="0"/>
                <a:ea typeface="Calibri" pitchFamily="34" charset="-122"/>
                <a:cs typeface="Calibri" pitchFamily="34" charset="-120"/>
              </a:rPr>
              <a:t>Fraudulent transactions (0.17%)</a:t>
            </a:r>
            <a:endParaRPr lang="en-US" sz="1050" dirty="0"/>
          </a:p>
        </p:txBody>
      </p:sp>
      <p:sp>
        <p:nvSpPr>
          <p:cNvPr id="10" name="Shape 8"/>
          <p:cNvSpPr/>
          <p:nvPr/>
        </p:nvSpPr>
        <p:spPr>
          <a:xfrm>
            <a:off x="8138160" y="1965960"/>
            <a:ext cx="3520440" cy="914400"/>
          </a:xfrm>
          <a:prstGeom prst="roundRect">
            <a:avLst>
              <a:gd name="adj" fmla="val 6000"/>
            </a:avLst>
          </a:prstGeom>
          <a:solidFill>
            <a:srgbClr val="F7F7F5"/>
          </a:solidFill>
          <a:ln w="12700">
            <a:solidFill>
              <a:srgbClr val="E3E6EF"/>
            </a:solidFill>
            <a:prstDash val="solid"/>
          </a:ln>
        </p:spPr>
      </p:sp>
      <p:sp>
        <p:nvSpPr>
          <p:cNvPr id="11" name="Text 9"/>
          <p:cNvSpPr/>
          <p:nvPr/>
        </p:nvSpPr>
        <p:spPr>
          <a:xfrm>
            <a:off x="8321040" y="2029968"/>
            <a:ext cx="3154680" cy="411480"/>
          </a:xfrm>
          <a:prstGeom prst="rect">
            <a:avLst/>
          </a:prstGeom>
          <a:noFill/>
          <a:ln/>
        </p:spPr>
        <p:txBody>
          <a:bodyPr wrap="square" rtlCol="0" anchor="ctr"/>
          <a:lstStyle/>
          <a:p>
            <a:pPr indent="0" marL="0">
              <a:buNone/>
            </a:pPr>
            <a:r>
              <a:rPr lang="en-US" sz="2000" b="1" dirty="0">
                <a:solidFill>
                  <a:srgbClr val="F76C5E"/>
                </a:solidFill>
                <a:latin typeface="Cambria" pitchFamily="34" charset="0"/>
                <a:ea typeface="Cambria" pitchFamily="34" charset="-122"/>
                <a:cs typeface="Cambria" pitchFamily="34" charset="-120"/>
              </a:rPr>
              <a:t>2 Days</a:t>
            </a:r>
            <a:endParaRPr lang="en-US" sz="2000" dirty="0"/>
          </a:p>
        </p:txBody>
      </p:sp>
      <p:sp>
        <p:nvSpPr>
          <p:cNvPr id="12" name="Text 10"/>
          <p:cNvSpPr/>
          <p:nvPr/>
        </p:nvSpPr>
        <p:spPr>
          <a:xfrm>
            <a:off x="8321040" y="2423160"/>
            <a:ext cx="3154680" cy="365760"/>
          </a:xfrm>
          <a:prstGeom prst="rect">
            <a:avLst/>
          </a:prstGeom>
          <a:noFill/>
          <a:ln/>
        </p:spPr>
        <p:txBody>
          <a:bodyPr wrap="square" rtlCol="0" anchor="ctr"/>
          <a:lstStyle/>
          <a:p>
            <a:pPr indent="0" marL="0">
              <a:buNone/>
            </a:pPr>
            <a:r>
              <a:rPr lang="en-US" sz="1050" dirty="0">
                <a:solidFill>
                  <a:srgbClr val="44506B"/>
                </a:solidFill>
                <a:latin typeface="Calibri" pitchFamily="34" charset="0"/>
                <a:ea typeface="Calibri" pitchFamily="34" charset="-122"/>
                <a:cs typeface="Calibri" pitchFamily="34" charset="-120"/>
              </a:rPr>
              <a:t>Span of transactions captured</a:t>
            </a:r>
            <a:endParaRPr lang="en-US" sz="10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3108960"/>
          <a:ext cx="10881360" cy="2331720"/>
        </p:xfrm>
        <a:graphic>
          <a:graphicData uri="http://schemas.openxmlformats.org/drawingml/2006/table">
            <a:tbl>
              <a:tblPr/>
              <a:tblGrid>
                <a:gridCol w="5440680"/>
                <a:gridCol w="5440680"/>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Column</a:t>
                      </a:r>
                      <a:endParaRPr lang="en-US" sz="1100" dirty="0">
                        <a:latin typeface="Calibri" charset="0"/>
                        <a:ea typeface="Calibri" charset="0"/>
                        <a:cs typeface="Calibri" charset="0"/>
                      </a:endParaRPr>
                    </a:p>
                  </a:txBody>
                  <a:tcPr marL="91440" marR="91440" marT="45720" marB="45720" anchor="ctr">
                    <a:lnL w="12700" cap="flat" cmpd="sng" algn="ctr">
                      <a:solidFill>
                        <a:srgbClr val="E3E6EF"/>
                      </a:solidFill>
                      <a:prstDash val="solid"/>
                      <a:round/>
                      <a:headEnd type="none" w="med" len="med"/>
                      <a:tailEnd type="none" w="med" len="med"/>
                    </a:lnL>
                    <a:lnR w="12700" cap="flat" cmpd="sng" algn="ctr">
                      <a:solidFill>
                        <a:srgbClr val="E3E6EF"/>
                      </a:solidFill>
                      <a:prstDash val="solid"/>
                      <a:round/>
                      <a:headEnd type="none" w="med" len="med"/>
                      <a:tailEnd type="none" w="med" len="med"/>
                    </a:lnR>
                    <a:lnT w="12700" cap="flat" cmpd="sng" algn="ctr">
                      <a:solidFill>
                        <a:srgbClr val="E3E6EF"/>
                      </a:solidFill>
                      <a:prstDash val="solid"/>
                      <a:round/>
                      <a:headEnd type="none" w="med" len="med"/>
                      <a:tailEnd type="none" w="med" len="med"/>
                    </a:lnT>
                    <a:lnB w="12700" cap="flat" cmpd="sng" algn="ctr">
                      <a:solidFill>
                        <a:srgbClr val="E3E6EF"/>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Description</a:t>
                      </a:r>
                      <a:endParaRPr lang="en-US" sz="1100" dirty="0">
                        <a:latin typeface="Calibri" charset="0"/>
                        <a:ea typeface="Calibri" charset="0"/>
                        <a:cs typeface="Calibri" charset="0"/>
                      </a:endParaRPr>
                    </a:p>
                  </a:txBody>
                  <a:tcPr marL="91440" marR="91440" marT="45720" marB="45720" anchor="ctr">
                    <a:lnL w="12700" cap="flat" cmpd="sng" algn="ctr">
                      <a:solidFill>
                        <a:srgbClr val="E3E6EF"/>
                      </a:solidFill>
                      <a:prstDash val="solid"/>
                      <a:round/>
                      <a:headEnd type="none" w="med" len="med"/>
                      <a:tailEnd type="none" w="med" len="med"/>
                    </a:lnL>
                    <a:lnR w="12700" cap="flat" cmpd="sng" algn="ctr">
                      <a:solidFill>
                        <a:srgbClr val="E3E6EF"/>
                      </a:solidFill>
                      <a:prstDash val="solid"/>
                      <a:round/>
                      <a:headEnd type="none" w="med" len="med"/>
                      <a:tailEnd type="none" w="med" len="med"/>
                    </a:lnR>
                    <a:lnT w="12700" cap="flat" cmpd="sng" algn="ctr">
                      <a:solidFill>
                        <a:srgbClr val="E3E6EF"/>
                      </a:solidFill>
                      <a:prstDash val="solid"/>
                      <a:round/>
                      <a:headEnd type="none" w="med" len="med"/>
                      <a:tailEnd type="none" w="med" len="med"/>
                    </a:lnT>
                    <a:lnB w="12700" cap="flat" cmpd="sng" algn="ctr">
                      <a:solidFill>
                        <a:srgbClr val="E3E6EF"/>
                      </a:solidFill>
                      <a:prstDash val="solid"/>
                      <a:round/>
                      <a:headEnd type="none" w="med" len="med"/>
                      <a:tailEnd type="none" w="med" len="med"/>
                    </a:lnB>
                    <a:solidFill>
                      <a:srgbClr val="1B2A4A"/>
                    </a:solidFill>
                  </a:tcPr>
                </a:tc>
              </a:tr>
              <a:tr h="457200">
                <a:tc>
                  <a:txBody>
                    <a:bodyPr/>
                    <a:lstStyle/>
                    <a:p>
                      <a:pPr indent="0" marL="0">
                        <a:buNone/>
                      </a:pPr>
                      <a:r>
                        <a:rPr lang="en-US" sz="1100" dirty="0">
                          <a:solidFill>
                            <a:srgbClr val="44506B"/>
                          </a:solidFill>
                          <a:latin typeface="Calibri" pitchFamily="34" charset="0"/>
                          <a:ea typeface="Calibri" pitchFamily="34" charset="-122"/>
                          <a:cs typeface="Calibri" pitchFamily="34" charset="-120"/>
                        </a:rPr>
                        <a:t>Time</a:t>
                      </a:r>
                      <a:endParaRPr lang="en-US" sz="1100" dirty="0">
                        <a:latin typeface="Calibri" charset="0"/>
                        <a:ea typeface="Calibri" charset="0"/>
                        <a:cs typeface="Calibri" charset="0"/>
                      </a:endParaRPr>
                    </a:p>
                  </a:txBody>
                  <a:tcPr marL="91440" marR="91440" marT="45720" marB="45720" anchor="ctr">
                    <a:lnL w="12700" cap="flat" cmpd="sng" algn="ctr">
                      <a:solidFill>
                        <a:srgbClr val="E3E6EF"/>
                      </a:solidFill>
                      <a:prstDash val="solid"/>
                      <a:round/>
                      <a:headEnd type="none" w="med" len="med"/>
                      <a:tailEnd type="none" w="med" len="med"/>
                    </a:lnL>
                    <a:lnR w="12700" cap="flat" cmpd="sng" algn="ctr">
                      <a:solidFill>
                        <a:srgbClr val="E3E6EF"/>
                      </a:solidFill>
                      <a:prstDash val="solid"/>
                      <a:round/>
                      <a:headEnd type="none" w="med" len="med"/>
                      <a:tailEnd type="none" w="med" len="med"/>
                    </a:lnR>
                    <a:lnT w="12700" cap="flat" cmpd="sng" algn="ctr">
                      <a:solidFill>
                        <a:srgbClr val="E3E6EF"/>
                      </a:solidFill>
                      <a:prstDash val="solid"/>
                      <a:round/>
                      <a:headEnd type="none" w="med" len="med"/>
                      <a:tailEnd type="none" w="med" len="med"/>
                    </a:lnT>
                    <a:lnB w="12700" cap="flat" cmpd="sng" algn="ctr">
                      <a:solidFill>
                        <a:srgbClr val="E3E6EF"/>
                      </a:solidFill>
                      <a:prstDash val="solid"/>
                      <a:round/>
                      <a:headEnd type="none" w="med" len="med"/>
                      <a:tailEnd type="none" w="med" len="med"/>
                    </a:lnB>
                  </a:tcPr>
                </a:tc>
                <a:tc>
                  <a:txBody>
                    <a:bodyPr/>
                    <a:lstStyle/>
                    <a:p>
                      <a:pPr indent="0" marL="0">
                        <a:buNone/>
                      </a:pPr>
                      <a:r>
                        <a:rPr lang="en-US" sz="1100" dirty="0">
                          <a:solidFill>
                            <a:srgbClr val="44506B"/>
                          </a:solidFill>
                          <a:latin typeface="Calibri" pitchFamily="34" charset="0"/>
                          <a:ea typeface="Calibri" pitchFamily="34" charset="-122"/>
                          <a:cs typeface="Calibri" pitchFamily="34" charset="-120"/>
                        </a:rPr>
                        <a:t>Seconds elapsed between this transaction and the first transaction in the dataset.</a:t>
                      </a:r>
                      <a:endParaRPr lang="en-US" sz="1100" dirty="0">
                        <a:latin typeface="Calibri" charset="0"/>
                        <a:ea typeface="Calibri" charset="0"/>
                        <a:cs typeface="Calibri" charset="0"/>
                      </a:endParaRPr>
                    </a:p>
                  </a:txBody>
                  <a:tcPr marL="91440" marR="91440" marT="45720" marB="45720" anchor="ctr">
                    <a:lnL w="12700" cap="flat" cmpd="sng" algn="ctr">
                      <a:solidFill>
                        <a:srgbClr val="E3E6EF"/>
                      </a:solidFill>
                      <a:prstDash val="solid"/>
                      <a:round/>
                      <a:headEnd type="none" w="med" len="med"/>
                      <a:tailEnd type="none" w="med" len="med"/>
                    </a:lnL>
                    <a:lnR w="12700" cap="flat" cmpd="sng" algn="ctr">
                      <a:solidFill>
                        <a:srgbClr val="E3E6EF"/>
                      </a:solidFill>
                      <a:prstDash val="solid"/>
                      <a:round/>
                      <a:headEnd type="none" w="med" len="med"/>
                      <a:tailEnd type="none" w="med" len="med"/>
                    </a:lnR>
                    <a:lnT w="12700" cap="flat" cmpd="sng" algn="ctr">
                      <a:solidFill>
                        <a:srgbClr val="E3E6EF"/>
                      </a:solidFill>
                      <a:prstDash val="solid"/>
                      <a:round/>
                      <a:headEnd type="none" w="med" len="med"/>
                      <a:tailEnd type="none" w="med" len="med"/>
                    </a:lnT>
                    <a:lnB w="12700" cap="flat" cmpd="sng" algn="ctr">
                      <a:solidFill>
                        <a:srgbClr val="E3E6EF"/>
                      </a:solidFill>
                      <a:prstDash val="solid"/>
                      <a:round/>
                      <a:headEnd type="none" w="med" len="med"/>
                      <a:tailEnd type="none" w="med" len="med"/>
                    </a:lnB>
                  </a:tcPr>
                </a:tc>
              </a:tr>
              <a:tr h="457200">
                <a:tc>
                  <a:txBody>
                    <a:bodyPr/>
                    <a:lstStyle/>
                    <a:p>
                      <a:pPr indent="0" marL="0">
                        <a:buNone/>
                      </a:pPr>
                      <a:r>
                        <a:rPr lang="en-US" sz="1100" dirty="0">
                          <a:solidFill>
                            <a:srgbClr val="44506B"/>
                          </a:solidFill>
                          <a:latin typeface="Calibri" pitchFamily="34" charset="0"/>
                          <a:ea typeface="Calibri" pitchFamily="34" charset="-122"/>
                          <a:cs typeface="Calibri" pitchFamily="34" charset="-120"/>
                        </a:rPr>
                        <a:t>V1–V28</a:t>
                      </a:r>
                      <a:endParaRPr lang="en-US" sz="1100" dirty="0">
                        <a:latin typeface="Calibri" charset="0"/>
                        <a:ea typeface="Calibri" charset="0"/>
                        <a:cs typeface="Calibri" charset="0"/>
                      </a:endParaRPr>
                    </a:p>
                  </a:txBody>
                  <a:tcPr marL="91440" marR="91440" marT="45720" marB="45720" anchor="ctr">
                    <a:lnL w="12700" cap="flat" cmpd="sng" algn="ctr">
                      <a:solidFill>
                        <a:srgbClr val="E3E6EF"/>
                      </a:solidFill>
                      <a:prstDash val="solid"/>
                      <a:round/>
                      <a:headEnd type="none" w="med" len="med"/>
                      <a:tailEnd type="none" w="med" len="med"/>
                    </a:lnL>
                    <a:lnR w="12700" cap="flat" cmpd="sng" algn="ctr">
                      <a:solidFill>
                        <a:srgbClr val="E3E6EF"/>
                      </a:solidFill>
                      <a:prstDash val="solid"/>
                      <a:round/>
                      <a:headEnd type="none" w="med" len="med"/>
                      <a:tailEnd type="none" w="med" len="med"/>
                    </a:lnR>
                    <a:lnT w="12700" cap="flat" cmpd="sng" algn="ctr">
                      <a:solidFill>
                        <a:srgbClr val="E3E6EF"/>
                      </a:solidFill>
                      <a:prstDash val="solid"/>
                      <a:round/>
                      <a:headEnd type="none" w="med" len="med"/>
                      <a:tailEnd type="none" w="med" len="med"/>
                    </a:lnT>
                    <a:lnB w="12700" cap="flat" cmpd="sng" algn="ctr">
                      <a:solidFill>
                        <a:srgbClr val="E3E6EF"/>
                      </a:solidFill>
                      <a:prstDash val="solid"/>
                      <a:round/>
                      <a:headEnd type="none" w="med" len="med"/>
                      <a:tailEnd type="none" w="med" len="med"/>
                    </a:lnB>
                  </a:tcPr>
                </a:tc>
                <a:tc>
                  <a:txBody>
                    <a:bodyPr/>
                    <a:lstStyle/>
                    <a:p>
                      <a:pPr indent="0" marL="0">
                        <a:buNone/>
                      </a:pPr>
                      <a:r>
                        <a:rPr lang="en-US" sz="1100" dirty="0">
                          <a:solidFill>
                            <a:srgbClr val="44506B"/>
                          </a:solidFill>
                          <a:latin typeface="Calibri" pitchFamily="34" charset="0"/>
                          <a:ea typeface="Calibri" pitchFamily="34" charset="-122"/>
                          <a:cs typeface="Calibri" pitchFamily="34" charset="-120"/>
                        </a:rPr>
                        <a:t>28 PCA-transformed features; original attributes withheld for confidentiality.</a:t>
                      </a:r>
                      <a:endParaRPr lang="en-US" sz="1100" dirty="0">
                        <a:latin typeface="Calibri" charset="0"/>
                        <a:ea typeface="Calibri" charset="0"/>
                        <a:cs typeface="Calibri" charset="0"/>
                      </a:endParaRPr>
                    </a:p>
                  </a:txBody>
                  <a:tcPr marL="91440" marR="91440" marT="45720" marB="45720" anchor="ctr">
                    <a:lnL w="12700" cap="flat" cmpd="sng" algn="ctr">
                      <a:solidFill>
                        <a:srgbClr val="E3E6EF"/>
                      </a:solidFill>
                      <a:prstDash val="solid"/>
                      <a:round/>
                      <a:headEnd type="none" w="med" len="med"/>
                      <a:tailEnd type="none" w="med" len="med"/>
                    </a:lnL>
                    <a:lnR w="12700" cap="flat" cmpd="sng" algn="ctr">
                      <a:solidFill>
                        <a:srgbClr val="E3E6EF"/>
                      </a:solidFill>
                      <a:prstDash val="solid"/>
                      <a:round/>
                      <a:headEnd type="none" w="med" len="med"/>
                      <a:tailEnd type="none" w="med" len="med"/>
                    </a:lnR>
                    <a:lnT w="12700" cap="flat" cmpd="sng" algn="ctr">
                      <a:solidFill>
                        <a:srgbClr val="E3E6EF"/>
                      </a:solidFill>
                      <a:prstDash val="solid"/>
                      <a:round/>
                      <a:headEnd type="none" w="med" len="med"/>
                      <a:tailEnd type="none" w="med" len="med"/>
                    </a:lnT>
                    <a:lnB w="12700" cap="flat" cmpd="sng" algn="ctr">
                      <a:solidFill>
                        <a:srgbClr val="E3E6EF"/>
                      </a:solidFill>
                      <a:prstDash val="solid"/>
                      <a:round/>
                      <a:headEnd type="none" w="med" len="med"/>
                      <a:tailEnd type="none" w="med" len="med"/>
                    </a:lnB>
                  </a:tcPr>
                </a:tc>
              </a:tr>
              <a:tr h="457200">
                <a:tc>
                  <a:txBody>
                    <a:bodyPr/>
                    <a:lstStyle/>
                    <a:p>
                      <a:pPr indent="0" marL="0">
                        <a:buNone/>
                      </a:pPr>
                      <a:r>
                        <a:rPr lang="en-US" sz="1100" dirty="0">
                          <a:solidFill>
                            <a:srgbClr val="44506B"/>
                          </a:solidFill>
                          <a:latin typeface="Calibri" pitchFamily="34" charset="0"/>
                          <a:ea typeface="Calibri" pitchFamily="34" charset="-122"/>
                          <a:cs typeface="Calibri" pitchFamily="34" charset="-120"/>
                        </a:rPr>
                        <a:t>Amount</a:t>
                      </a:r>
                      <a:endParaRPr lang="en-US" sz="1100" dirty="0">
                        <a:latin typeface="Calibri" charset="0"/>
                        <a:ea typeface="Calibri" charset="0"/>
                        <a:cs typeface="Calibri" charset="0"/>
                      </a:endParaRPr>
                    </a:p>
                  </a:txBody>
                  <a:tcPr marL="91440" marR="91440" marT="45720" marB="45720" anchor="ctr">
                    <a:lnL w="12700" cap="flat" cmpd="sng" algn="ctr">
                      <a:solidFill>
                        <a:srgbClr val="E3E6EF"/>
                      </a:solidFill>
                      <a:prstDash val="solid"/>
                      <a:round/>
                      <a:headEnd type="none" w="med" len="med"/>
                      <a:tailEnd type="none" w="med" len="med"/>
                    </a:lnL>
                    <a:lnR w="12700" cap="flat" cmpd="sng" algn="ctr">
                      <a:solidFill>
                        <a:srgbClr val="E3E6EF"/>
                      </a:solidFill>
                      <a:prstDash val="solid"/>
                      <a:round/>
                      <a:headEnd type="none" w="med" len="med"/>
                      <a:tailEnd type="none" w="med" len="med"/>
                    </a:lnR>
                    <a:lnT w="12700" cap="flat" cmpd="sng" algn="ctr">
                      <a:solidFill>
                        <a:srgbClr val="E3E6EF"/>
                      </a:solidFill>
                      <a:prstDash val="solid"/>
                      <a:round/>
                      <a:headEnd type="none" w="med" len="med"/>
                      <a:tailEnd type="none" w="med" len="med"/>
                    </a:lnT>
                    <a:lnB w="12700" cap="flat" cmpd="sng" algn="ctr">
                      <a:solidFill>
                        <a:srgbClr val="E3E6EF"/>
                      </a:solidFill>
                      <a:prstDash val="solid"/>
                      <a:round/>
                      <a:headEnd type="none" w="med" len="med"/>
                      <a:tailEnd type="none" w="med" len="med"/>
                    </a:lnB>
                  </a:tcPr>
                </a:tc>
                <a:tc>
                  <a:txBody>
                    <a:bodyPr/>
                    <a:lstStyle/>
                    <a:p>
                      <a:pPr indent="0" marL="0">
                        <a:buNone/>
                      </a:pPr>
                      <a:r>
                        <a:rPr lang="en-US" sz="1100" dirty="0">
                          <a:solidFill>
                            <a:srgbClr val="44506B"/>
                          </a:solidFill>
                          <a:latin typeface="Calibri" pitchFamily="34" charset="0"/>
                          <a:ea typeface="Calibri" pitchFamily="34" charset="-122"/>
                          <a:cs typeface="Calibri" pitchFamily="34" charset="-120"/>
                        </a:rPr>
                        <a:t>Transaction amount — usable for cost-sensitive evaluation.</a:t>
                      </a:r>
                      <a:endParaRPr lang="en-US" sz="1100" dirty="0">
                        <a:latin typeface="Calibri" charset="0"/>
                        <a:ea typeface="Calibri" charset="0"/>
                        <a:cs typeface="Calibri" charset="0"/>
                      </a:endParaRPr>
                    </a:p>
                  </a:txBody>
                  <a:tcPr marL="91440" marR="91440" marT="45720" marB="45720" anchor="ctr">
                    <a:lnL w="12700" cap="flat" cmpd="sng" algn="ctr">
                      <a:solidFill>
                        <a:srgbClr val="E3E6EF"/>
                      </a:solidFill>
                      <a:prstDash val="solid"/>
                      <a:round/>
                      <a:headEnd type="none" w="med" len="med"/>
                      <a:tailEnd type="none" w="med" len="med"/>
                    </a:lnL>
                    <a:lnR w="12700" cap="flat" cmpd="sng" algn="ctr">
                      <a:solidFill>
                        <a:srgbClr val="E3E6EF"/>
                      </a:solidFill>
                      <a:prstDash val="solid"/>
                      <a:round/>
                      <a:headEnd type="none" w="med" len="med"/>
                      <a:tailEnd type="none" w="med" len="med"/>
                    </a:lnR>
                    <a:lnT w="12700" cap="flat" cmpd="sng" algn="ctr">
                      <a:solidFill>
                        <a:srgbClr val="E3E6EF"/>
                      </a:solidFill>
                      <a:prstDash val="solid"/>
                      <a:round/>
                      <a:headEnd type="none" w="med" len="med"/>
                      <a:tailEnd type="none" w="med" len="med"/>
                    </a:lnT>
                    <a:lnB w="12700" cap="flat" cmpd="sng" algn="ctr">
                      <a:solidFill>
                        <a:srgbClr val="E3E6EF"/>
                      </a:solidFill>
                      <a:prstDash val="solid"/>
                      <a:round/>
                      <a:headEnd type="none" w="med" len="med"/>
                      <a:tailEnd type="none" w="med" len="med"/>
                    </a:lnB>
                  </a:tcPr>
                </a:tc>
              </a:tr>
              <a:tr h="457200">
                <a:tc>
                  <a:txBody>
                    <a:bodyPr/>
                    <a:lstStyle/>
                    <a:p>
                      <a:pPr indent="0" marL="0">
                        <a:buNone/>
                      </a:pPr>
                      <a:r>
                        <a:rPr lang="en-US" sz="1100" dirty="0">
                          <a:solidFill>
                            <a:srgbClr val="44506B"/>
                          </a:solidFill>
                          <a:latin typeface="Calibri" pitchFamily="34" charset="0"/>
                          <a:ea typeface="Calibri" pitchFamily="34" charset="-122"/>
                          <a:cs typeface="Calibri" pitchFamily="34" charset="-120"/>
                        </a:rPr>
                        <a:t>Class</a:t>
                      </a:r>
                      <a:endParaRPr lang="en-US" sz="1100" dirty="0">
                        <a:latin typeface="Calibri" charset="0"/>
                        <a:ea typeface="Calibri" charset="0"/>
                        <a:cs typeface="Calibri" charset="0"/>
                      </a:endParaRPr>
                    </a:p>
                  </a:txBody>
                  <a:tcPr marL="91440" marR="91440" marT="45720" marB="45720" anchor="ctr">
                    <a:lnL w="12700" cap="flat" cmpd="sng" algn="ctr">
                      <a:solidFill>
                        <a:srgbClr val="E3E6EF"/>
                      </a:solidFill>
                      <a:prstDash val="solid"/>
                      <a:round/>
                      <a:headEnd type="none" w="med" len="med"/>
                      <a:tailEnd type="none" w="med" len="med"/>
                    </a:lnL>
                    <a:lnR w="12700" cap="flat" cmpd="sng" algn="ctr">
                      <a:solidFill>
                        <a:srgbClr val="E3E6EF"/>
                      </a:solidFill>
                      <a:prstDash val="solid"/>
                      <a:round/>
                      <a:headEnd type="none" w="med" len="med"/>
                      <a:tailEnd type="none" w="med" len="med"/>
                    </a:lnR>
                    <a:lnT w="12700" cap="flat" cmpd="sng" algn="ctr">
                      <a:solidFill>
                        <a:srgbClr val="E3E6EF"/>
                      </a:solidFill>
                      <a:prstDash val="solid"/>
                      <a:round/>
                      <a:headEnd type="none" w="med" len="med"/>
                      <a:tailEnd type="none" w="med" len="med"/>
                    </a:lnT>
                    <a:lnB w="12700" cap="flat" cmpd="sng" algn="ctr">
                      <a:solidFill>
                        <a:srgbClr val="E3E6EF"/>
                      </a:solidFill>
                      <a:prstDash val="solid"/>
                      <a:round/>
                      <a:headEnd type="none" w="med" len="med"/>
                      <a:tailEnd type="none" w="med" len="med"/>
                    </a:lnB>
                  </a:tcPr>
                </a:tc>
                <a:tc>
                  <a:txBody>
                    <a:bodyPr/>
                    <a:lstStyle/>
                    <a:p>
                      <a:pPr indent="0" marL="0">
                        <a:buNone/>
                      </a:pPr>
                      <a:r>
                        <a:rPr lang="en-US" sz="1100" dirty="0">
                          <a:solidFill>
                            <a:srgbClr val="44506B"/>
                          </a:solidFill>
                          <a:latin typeface="Calibri" pitchFamily="34" charset="0"/>
                          <a:ea typeface="Calibri" pitchFamily="34" charset="-122"/>
                          <a:cs typeface="Calibri" pitchFamily="34" charset="-120"/>
                        </a:rPr>
                        <a:t>Target label: 1 = fraud, 0 = genuine.</a:t>
                      </a:r>
                      <a:endParaRPr lang="en-US" sz="1100" dirty="0">
                        <a:latin typeface="Calibri" charset="0"/>
                        <a:ea typeface="Calibri" charset="0"/>
                        <a:cs typeface="Calibri" charset="0"/>
                      </a:endParaRPr>
                    </a:p>
                  </a:txBody>
                  <a:tcPr marL="91440" marR="91440" marT="45720" marB="45720" anchor="ctr">
                    <a:lnL w="12700" cap="flat" cmpd="sng" algn="ctr">
                      <a:solidFill>
                        <a:srgbClr val="E3E6EF"/>
                      </a:solidFill>
                      <a:prstDash val="solid"/>
                      <a:round/>
                      <a:headEnd type="none" w="med" len="med"/>
                      <a:tailEnd type="none" w="med" len="med"/>
                    </a:lnL>
                    <a:lnR w="12700" cap="flat" cmpd="sng" algn="ctr">
                      <a:solidFill>
                        <a:srgbClr val="E3E6EF"/>
                      </a:solidFill>
                      <a:prstDash val="solid"/>
                      <a:round/>
                      <a:headEnd type="none" w="med" len="med"/>
                      <a:tailEnd type="none" w="med" len="med"/>
                    </a:lnR>
                    <a:lnT w="12700" cap="flat" cmpd="sng" algn="ctr">
                      <a:solidFill>
                        <a:srgbClr val="E3E6EF"/>
                      </a:solidFill>
                      <a:prstDash val="solid"/>
                      <a:round/>
                      <a:headEnd type="none" w="med" len="med"/>
                      <a:tailEnd type="none" w="med" len="med"/>
                    </a:lnT>
                    <a:lnB w="12700" cap="flat" cmpd="sng" algn="ctr">
                      <a:solidFill>
                        <a:srgbClr val="E3E6EF"/>
                      </a:solidFill>
                      <a:prstDash val="solid"/>
                      <a:round/>
                      <a:headEnd type="none" w="med" len="med"/>
                      <a:tailEnd type="none" w="med" len="med"/>
                    </a:lnB>
                  </a:tcPr>
                </a:tc>
              </a:tr>
            </a:tbl>
          </a:graphicData>
        </a:graphic>
      </p:graphicFrame>
      <p:sp>
        <p:nvSpPr>
          <p:cNvPr id="14" name="Shape 11"/>
          <p:cNvSpPr/>
          <p:nvPr/>
        </p:nvSpPr>
        <p:spPr>
          <a:xfrm>
            <a:off x="640080" y="5623560"/>
            <a:ext cx="10881360" cy="685800"/>
          </a:xfrm>
          <a:prstGeom prst="roundRect">
            <a:avLst>
              <a:gd name="adj" fmla="val 8000"/>
            </a:avLst>
          </a:prstGeom>
          <a:solidFill>
            <a:srgbClr val="F7F7F5"/>
          </a:solidFill>
          <a:ln/>
        </p:spPr>
      </p:sp>
      <p:sp>
        <p:nvSpPr>
          <p:cNvPr id="15" name="Text 12"/>
          <p:cNvSpPr/>
          <p:nvPr/>
        </p:nvSpPr>
        <p:spPr>
          <a:xfrm>
            <a:off x="868680" y="5623560"/>
            <a:ext cx="10424160" cy="6858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Why this dataset: </a:t>
            </a:r>
            <a:pPr indent="0" marL="0">
              <a:buNone/>
            </a:pPr>
            <a:r>
              <a:rPr lang="en-US" sz="1100" dirty="0">
                <a:solidFill>
                  <a:srgbClr val="44506B"/>
                </a:solidFill>
                <a:latin typeface="Calibri" pitchFamily="34" charset="0"/>
                <a:ea typeface="Calibri" pitchFamily="34" charset="-122"/>
                <a:cs typeface="Calibri" pitchFamily="34" charset="-120"/>
              </a:rPr>
              <a:t>real anonymized transactions with a genuine, extreme class imbalance — exactly the scenario a hybrid supervised + anomaly-detection approach is designed for.</a:t>
            </a:r>
            <a:endParaRPr lang="en-US" sz="1100" dirty="0"/>
          </a:p>
        </p:txBody>
      </p:sp>
      <p:sp>
        <p:nvSpPr>
          <p:cNvPr id="16" name="Text 13"/>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9AA3BD"/>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548640"/>
          </a:xfrm>
          <a:prstGeom prst="rect">
            <a:avLst/>
          </a:prstGeom>
          <a:noFill/>
          <a:ln/>
        </p:spPr>
        <p:txBody>
          <a:bodyPr wrap="square"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Dataset Snapshot</a:t>
            </a:r>
            <a:endParaRPr lang="en-US" sz="3000" dirty="0"/>
          </a:p>
        </p:txBody>
      </p:sp>
      <p:sp>
        <p:nvSpPr>
          <p:cNvPr id="3" name="Text 1"/>
          <p:cNvSpPr/>
          <p:nvPr/>
        </p:nvSpPr>
        <p:spPr>
          <a:xfrm>
            <a:off x="640080" y="1051560"/>
            <a:ext cx="9144000" cy="365760"/>
          </a:xfrm>
          <a:prstGeom prst="rect">
            <a:avLst/>
          </a:prstGeom>
          <a:noFill/>
          <a:ln/>
        </p:spPr>
        <p:txBody>
          <a:bodyPr wrap="square" rtlCol="0" anchor="ctr"/>
          <a:lstStyle/>
          <a:p>
            <a:pPr indent="0" marL="0">
              <a:buNone/>
            </a:pPr>
            <a:r>
              <a:rPr lang="en-US" sz="1300" dirty="0">
                <a:solidFill>
                  <a:srgbClr val="44506B"/>
                </a:solidFill>
                <a:latin typeface="Calibri" pitchFamily="34" charset="0"/>
                <a:ea typeface="Calibri" pitchFamily="34" charset="-122"/>
                <a:cs typeface="Calibri" pitchFamily="34" charset="-120"/>
              </a:rPr>
              <a:t>creditcard.csv  —  df.shape / df.head()</a:t>
            </a:r>
            <a:endParaRPr lang="en-US" sz="1300" dirty="0"/>
          </a:p>
        </p:txBody>
      </p:sp>
      <p:sp>
        <p:nvSpPr>
          <p:cNvPr id="4" name="Shape 2"/>
          <p:cNvSpPr/>
          <p:nvPr/>
        </p:nvSpPr>
        <p:spPr>
          <a:xfrm>
            <a:off x="640080" y="1554480"/>
            <a:ext cx="10881360" cy="3246120"/>
          </a:xfrm>
          <a:prstGeom prst="roundRect">
            <a:avLst>
              <a:gd name="adj" fmla="val 2254"/>
            </a:avLst>
          </a:prstGeom>
          <a:solidFill>
            <a:srgbClr val="121E38"/>
          </a:solidFill>
          <a:ln/>
          <a:effectLst>
            <a:outerShdw sx="100000" sy="100000" kx="0" ky="0" algn="bl" rotWithShape="0" blurRad="101600" dist="25400" dir="5400000">
              <a:srgbClr val="1B2A4A">
                <a:alpha val="12000"/>
              </a:srgbClr>
            </a:outerShdw>
          </a:effectLst>
        </p:spPr>
      </p:sp>
      <p:pic>
        <p:nvPicPr>
          <p:cNvPr id="5" name="Image 0" descr="assets/df_head.png">    </p:cNvPr>
          <p:cNvPicPr>
            <a:picLocks noChangeAspect="1"/>
          </p:cNvPicPr>
          <p:nvPr/>
        </p:nvPicPr>
        <p:blipFill>
          <a:blip r:embed="rId1"/>
          <a:stretch>
            <a:fillRect/>
          </a:stretch>
        </p:blipFill>
        <p:spPr>
          <a:xfrm>
            <a:off x="868680" y="1828800"/>
            <a:ext cx="10424160" cy="2724912"/>
          </a:xfrm>
          <a:prstGeom prst="rect">
            <a:avLst/>
          </a:prstGeom>
        </p:spPr>
      </p:pic>
      <p:sp>
        <p:nvSpPr>
          <p:cNvPr id="6" name="Shape 3"/>
          <p:cNvSpPr/>
          <p:nvPr/>
        </p:nvSpPr>
        <p:spPr>
          <a:xfrm>
            <a:off x="640080" y="4983480"/>
            <a:ext cx="10881360" cy="1280160"/>
          </a:xfrm>
          <a:prstGeom prst="roundRect">
            <a:avLst>
              <a:gd name="adj" fmla="val 4286"/>
            </a:avLst>
          </a:prstGeom>
          <a:solidFill>
            <a:srgbClr val="F7F7F5"/>
          </a:solidFill>
          <a:ln w="12700">
            <a:solidFill>
              <a:srgbClr val="E3E6EF"/>
            </a:solidFill>
            <a:prstDash val="solid"/>
          </a:ln>
        </p:spPr>
      </p:sp>
      <p:sp>
        <p:nvSpPr>
          <p:cNvPr id="7" name="Shape 4"/>
          <p:cNvSpPr/>
          <p:nvPr/>
        </p:nvSpPr>
        <p:spPr>
          <a:xfrm>
            <a:off x="868680" y="5202936"/>
            <a:ext cx="82296" cy="82296"/>
          </a:xfrm>
          <a:prstGeom prst="ellipse">
            <a:avLst/>
          </a:prstGeom>
          <a:solidFill>
            <a:srgbClr val="F2B134"/>
          </a:solidFill>
          <a:ln/>
        </p:spPr>
      </p:sp>
      <p:sp>
        <p:nvSpPr>
          <p:cNvPr id="8" name="Text 5"/>
          <p:cNvSpPr/>
          <p:nvPr/>
        </p:nvSpPr>
        <p:spPr>
          <a:xfrm>
            <a:off x="1051560" y="5138928"/>
            <a:ext cx="10241280" cy="320040"/>
          </a:xfrm>
          <a:prstGeom prst="rect">
            <a:avLst/>
          </a:prstGeom>
          <a:noFill/>
          <a:ln/>
        </p:spPr>
        <p:txBody>
          <a:bodyPr wrap="square" rtlCol="0" anchor="ctr"/>
          <a:lstStyle/>
          <a:p>
            <a:pPr indent="0" marL="0">
              <a:buNone/>
            </a:pPr>
            <a:r>
              <a:rPr lang="en-US" sz="1150" dirty="0">
                <a:solidFill>
                  <a:srgbClr val="44506B"/>
                </a:solidFill>
                <a:latin typeface="Calibri" pitchFamily="34" charset="0"/>
                <a:ea typeface="Calibri" pitchFamily="34" charset="-122"/>
                <a:cs typeface="Calibri" pitchFamily="34" charset="-120"/>
              </a:rPr>
              <a:t>284,807 rows × 31 columns — all numeric (float64 × 30, int64 × 1)</a:t>
            </a:r>
            <a:endParaRPr lang="en-US" sz="1150" dirty="0"/>
          </a:p>
        </p:txBody>
      </p:sp>
      <p:sp>
        <p:nvSpPr>
          <p:cNvPr id="9" name="Shape 6"/>
          <p:cNvSpPr/>
          <p:nvPr/>
        </p:nvSpPr>
        <p:spPr>
          <a:xfrm>
            <a:off x="868680" y="5550408"/>
            <a:ext cx="82296" cy="82296"/>
          </a:xfrm>
          <a:prstGeom prst="ellipse">
            <a:avLst/>
          </a:prstGeom>
          <a:solidFill>
            <a:srgbClr val="F2B134"/>
          </a:solidFill>
          <a:ln/>
        </p:spPr>
      </p:sp>
      <p:sp>
        <p:nvSpPr>
          <p:cNvPr id="10" name="Text 7"/>
          <p:cNvSpPr/>
          <p:nvPr/>
        </p:nvSpPr>
        <p:spPr>
          <a:xfrm>
            <a:off x="1051560" y="5486400"/>
            <a:ext cx="10241280" cy="320040"/>
          </a:xfrm>
          <a:prstGeom prst="rect">
            <a:avLst/>
          </a:prstGeom>
          <a:noFill/>
          <a:ln/>
        </p:spPr>
        <p:txBody>
          <a:bodyPr wrap="square" rtlCol="0" anchor="ctr"/>
          <a:lstStyle/>
          <a:p>
            <a:pPr indent="0" marL="0">
              <a:buNone/>
            </a:pPr>
            <a:r>
              <a:rPr lang="en-US" sz="1150" dirty="0">
                <a:solidFill>
                  <a:srgbClr val="44506B"/>
                </a:solidFill>
                <a:latin typeface="Calibri" pitchFamily="34" charset="0"/>
                <a:ea typeface="Calibri" pitchFamily="34" charset="-122"/>
                <a:cs typeface="Calibri" pitchFamily="34" charset="-120"/>
              </a:rPr>
              <a:t>No missing values in any column (confirmed via df.isnull().sum())</a:t>
            </a:r>
            <a:endParaRPr lang="en-US" sz="1150" dirty="0"/>
          </a:p>
        </p:txBody>
      </p:sp>
      <p:sp>
        <p:nvSpPr>
          <p:cNvPr id="11" name="Shape 8"/>
          <p:cNvSpPr/>
          <p:nvPr/>
        </p:nvSpPr>
        <p:spPr>
          <a:xfrm>
            <a:off x="868680" y="5897880"/>
            <a:ext cx="82296" cy="82296"/>
          </a:xfrm>
          <a:prstGeom prst="ellipse">
            <a:avLst/>
          </a:prstGeom>
          <a:solidFill>
            <a:srgbClr val="F2B134"/>
          </a:solidFill>
          <a:ln/>
        </p:spPr>
      </p:sp>
      <p:sp>
        <p:nvSpPr>
          <p:cNvPr id="12" name="Text 9"/>
          <p:cNvSpPr/>
          <p:nvPr/>
        </p:nvSpPr>
        <p:spPr>
          <a:xfrm>
            <a:off x="1051560" y="5833872"/>
            <a:ext cx="10241280" cy="320040"/>
          </a:xfrm>
          <a:prstGeom prst="rect">
            <a:avLst/>
          </a:prstGeom>
          <a:noFill/>
          <a:ln/>
        </p:spPr>
        <p:txBody>
          <a:bodyPr wrap="square" rtlCol="0" anchor="ctr"/>
          <a:lstStyle/>
          <a:p>
            <a:pPr indent="0" marL="0">
              <a:buNone/>
            </a:pPr>
            <a:r>
              <a:rPr lang="en-US" sz="1150" dirty="0">
                <a:solidFill>
                  <a:srgbClr val="44506B"/>
                </a:solidFill>
                <a:latin typeface="Calibri" pitchFamily="34" charset="0"/>
                <a:ea typeface="Calibri" pitchFamily="34" charset="-122"/>
                <a:cs typeface="Calibri" pitchFamily="34" charset="-120"/>
              </a:rPr>
              <a:t>V1–V28 are PCA components already centered around 0</a:t>
            </a:r>
            <a:endParaRPr lang="en-US" sz="1150" dirty="0"/>
          </a:p>
        </p:txBody>
      </p:sp>
      <p:sp>
        <p:nvSpPr>
          <p:cNvPr id="13" name="Text 10"/>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9AA3BD"/>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548640"/>
          </a:xfrm>
          <a:prstGeom prst="rect">
            <a:avLst/>
          </a:prstGeom>
          <a:noFill/>
          <a:ln/>
        </p:spPr>
        <p:txBody>
          <a:bodyPr wrap="square"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Data Cleaning &amp; Preparation</a:t>
            </a:r>
            <a:endParaRPr lang="en-US" sz="3000" dirty="0"/>
          </a:p>
        </p:txBody>
      </p:sp>
      <p:sp>
        <p:nvSpPr>
          <p:cNvPr id="3" name="Shape 1"/>
          <p:cNvSpPr/>
          <p:nvPr/>
        </p:nvSpPr>
        <p:spPr>
          <a:xfrm>
            <a:off x="640080" y="1280160"/>
            <a:ext cx="5120640" cy="4846320"/>
          </a:xfrm>
          <a:prstGeom prst="roundRect">
            <a:avLst>
              <a:gd name="adj" fmla="val 1509"/>
            </a:avLst>
          </a:prstGeom>
          <a:solidFill>
            <a:srgbClr val="121E38"/>
          </a:solidFill>
          <a:ln/>
          <a:effectLst>
            <a:outerShdw sx="100000" sy="100000" kx="0" ky="0" algn="bl" rotWithShape="0" blurRad="101600" dist="25400" dir="5400000">
              <a:srgbClr val="1B2A4A">
                <a:alpha val="12000"/>
              </a:srgbClr>
            </a:outerShdw>
          </a:effectLst>
        </p:spPr>
      </p:sp>
      <p:sp>
        <p:nvSpPr>
          <p:cNvPr id="4" name="Text 2"/>
          <p:cNvSpPr/>
          <p:nvPr/>
        </p:nvSpPr>
        <p:spPr>
          <a:xfrm>
            <a:off x="868680" y="1417320"/>
            <a:ext cx="4663440" cy="320040"/>
          </a:xfrm>
          <a:prstGeom prst="rect">
            <a:avLst/>
          </a:prstGeom>
          <a:noFill/>
          <a:ln/>
        </p:spPr>
        <p:txBody>
          <a:bodyPr wrap="square" rtlCol="0" anchor="ctr"/>
          <a:lstStyle/>
          <a:p>
            <a:pPr indent="0" marL="0">
              <a:buNone/>
            </a:pPr>
            <a:r>
              <a:rPr lang="en-US" sz="1200" b="1" dirty="0">
                <a:solidFill>
                  <a:srgbClr val="F76C5E"/>
                </a:solidFill>
                <a:latin typeface="Calibri" pitchFamily="34" charset="0"/>
                <a:ea typeface="Calibri" pitchFamily="34" charset="-122"/>
                <a:cs typeface="Calibri" pitchFamily="34" charset="-120"/>
              </a:rPr>
              <a:t>Missing values — df.isnull().sum()</a:t>
            </a:r>
            <a:endParaRPr lang="en-US" sz="1200" dirty="0"/>
          </a:p>
        </p:txBody>
      </p:sp>
      <p:sp>
        <p:nvSpPr>
          <p:cNvPr id="5" name="Text 3"/>
          <p:cNvSpPr/>
          <p:nvPr/>
        </p:nvSpPr>
        <p:spPr>
          <a:xfrm>
            <a:off x="868680" y="1828800"/>
            <a:ext cx="2194560" cy="274320"/>
          </a:xfrm>
          <a:prstGeom prst="rect">
            <a:avLst/>
          </a:prstGeom>
          <a:noFill/>
          <a:ln/>
        </p:spPr>
        <p:txBody>
          <a:bodyPr wrap="square" rtlCol="0" anchor="ctr"/>
          <a:lstStyle/>
          <a:p>
            <a:pPr indent="0" marL="0">
              <a:buNone/>
            </a:pPr>
            <a:r>
              <a:rPr lang="en-US" sz="1100" dirty="0">
                <a:solidFill>
                  <a:srgbClr val="C7CEE0"/>
                </a:solidFill>
                <a:latin typeface="Calibri" pitchFamily="34" charset="0"/>
                <a:ea typeface="Calibri" pitchFamily="34" charset="-122"/>
                <a:cs typeface="Calibri" pitchFamily="34" charset="-120"/>
              </a:rPr>
              <a:t>Time</a:t>
            </a:r>
            <a:endParaRPr lang="en-US" sz="1100" dirty="0"/>
          </a:p>
        </p:txBody>
      </p:sp>
      <p:sp>
        <p:nvSpPr>
          <p:cNvPr id="6" name="Text 4"/>
          <p:cNvSpPr/>
          <p:nvPr/>
        </p:nvSpPr>
        <p:spPr>
          <a:xfrm>
            <a:off x="4114800" y="1828800"/>
            <a:ext cx="1280160" cy="274320"/>
          </a:xfrm>
          <a:prstGeom prst="rect">
            <a:avLst/>
          </a:prstGeom>
          <a:noFill/>
          <a:ln/>
        </p:spPr>
        <p:txBody>
          <a:bodyPr wrap="square"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0</a:t>
            </a:r>
            <a:endParaRPr lang="en-US" sz="1100" dirty="0"/>
          </a:p>
        </p:txBody>
      </p:sp>
      <p:sp>
        <p:nvSpPr>
          <p:cNvPr id="7" name="Text 5"/>
          <p:cNvSpPr/>
          <p:nvPr/>
        </p:nvSpPr>
        <p:spPr>
          <a:xfrm>
            <a:off x="868680" y="2194560"/>
            <a:ext cx="2194560" cy="274320"/>
          </a:xfrm>
          <a:prstGeom prst="rect">
            <a:avLst/>
          </a:prstGeom>
          <a:noFill/>
          <a:ln/>
        </p:spPr>
        <p:txBody>
          <a:bodyPr wrap="square" rtlCol="0" anchor="ctr"/>
          <a:lstStyle/>
          <a:p>
            <a:pPr indent="0" marL="0">
              <a:buNone/>
            </a:pPr>
            <a:r>
              <a:rPr lang="en-US" sz="1100" dirty="0">
                <a:solidFill>
                  <a:srgbClr val="C7CEE0"/>
                </a:solidFill>
                <a:latin typeface="Calibri" pitchFamily="34" charset="0"/>
                <a:ea typeface="Calibri" pitchFamily="34" charset="-122"/>
                <a:cs typeface="Calibri" pitchFamily="34" charset="-120"/>
              </a:rPr>
              <a:t>V1</a:t>
            </a:r>
            <a:endParaRPr lang="en-US" sz="1100" dirty="0"/>
          </a:p>
        </p:txBody>
      </p:sp>
      <p:sp>
        <p:nvSpPr>
          <p:cNvPr id="8" name="Text 6"/>
          <p:cNvSpPr/>
          <p:nvPr/>
        </p:nvSpPr>
        <p:spPr>
          <a:xfrm>
            <a:off x="4114800" y="2194560"/>
            <a:ext cx="1280160" cy="274320"/>
          </a:xfrm>
          <a:prstGeom prst="rect">
            <a:avLst/>
          </a:prstGeom>
          <a:noFill/>
          <a:ln/>
        </p:spPr>
        <p:txBody>
          <a:bodyPr wrap="square"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0</a:t>
            </a:r>
            <a:endParaRPr lang="en-US" sz="1100" dirty="0"/>
          </a:p>
        </p:txBody>
      </p:sp>
      <p:sp>
        <p:nvSpPr>
          <p:cNvPr id="9" name="Text 7"/>
          <p:cNvSpPr/>
          <p:nvPr/>
        </p:nvSpPr>
        <p:spPr>
          <a:xfrm>
            <a:off x="868680" y="2560320"/>
            <a:ext cx="2194560" cy="274320"/>
          </a:xfrm>
          <a:prstGeom prst="rect">
            <a:avLst/>
          </a:prstGeom>
          <a:noFill/>
          <a:ln/>
        </p:spPr>
        <p:txBody>
          <a:bodyPr wrap="square" rtlCol="0" anchor="ctr"/>
          <a:lstStyle/>
          <a:p>
            <a:pPr indent="0" marL="0">
              <a:buNone/>
            </a:pPr>
            <a:r>
              <a:rPr lang="en-US" sz="1100" dirty="0">
                <a:solidFill>
                  <a:srgbClr val="C7CEE0"/>
                </a:solidFill>
                <a:latin typeface="Calibri" pitchFamily="34" charset="0"/>
                <a:ea typeface="Calibri" pitchFamily="34" charset="-122"/>
                <a:cs typeface="Calibri" pitchFamily="34" charset="-120"/>
              </a:rPr>
              <a:t>V2</a:t>
            </a:r>
            <a:endParaRPr lang="en-US" sz="1100" dirty="0"/>
          </a:p>
        </p:txBody>
      </p:sp>
      <p:sp>
        <p:nvSpPr>
          <p:cNvPr id="10" name="Text 8"/>
          <p:cNvSpPr/>
          <p:nvPr/>
        </p:nvSpPr>
        <p:spPr>
          <a:xfrm>
            <a:off x="4114800" y="2560320"/>
            <a:ext cx="1280160" cy="274320"/>
          </a:xfrm>
          <a:prstGeom prst="rect">
            <a:avLst/>
          </a:prstGeom>
          <a:noFill/>
          <a:ln/>
        </p:spPr>
        <p:txBody>
          <a:bodyPr wrap="square"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0</a:t>
            </a:r>
            <a:endParaRPr lang="en-US" sz="1100" dirty="0"/>
          </a:p>
        </p:txBody>
      </p:sp>
      <p:sp>
        <p:nvSpPr>
          <p:cNvPr id="11" name="Text 9"/>
          <p:cNvSpPr/>
          <p:nvPr/>
        </p:nvSpPr>
        <p:spPr>
          <a:xfrm>
            <a:off x="868680" y="2926080"/>
            <a:ext cx="2194560" cy="274320"/>
          </a:xfrm>
          <a:prstGeom prst="rect">
            <a:avLst/>
          </a:prstGeom>
          <a:noFill/>
          <a:ln/>
        </p:spPr>
        <p:txBody>
          <a:bodyPr wrap="square" rtlCol="0" anchor="ctr"/>
          <a:lstStyle/>
          <a:p>
            <a:pPr indent="0" marL="0">
              <a:buNone/>
            </a:pPr>
            <a:r>
              <a:rPr lang="en-US" sz="1100" dirty="0">
                <a:solidFill>
                  <a:srgbClr val="C7CEE0"/>
                </a:solidFill>
                <a:latin typeface="Calibri" pitchFamily="34" charset="0"/>
                <a:ea typeface="Calibri" pitchFamily="34" charset="-122"/>
                <a:cs typeface="Calibri" pitchFamily="34" charset="-120"/>
              </a:rPr>
              <a:t>V3</a:t>
            </a:r>
            <a:endParaRPr lang="en-US" sz="1100" dirty="0"/>
          </a:p>
        </p:txBody>
      </p:sp>
      <p:sp>
        <p:nvSpPr>
          <p:cNvPr id="12" name="Text 10"/>
          <p:cNvSpPr/>
          <p:nvPr/>
        </p:nvSpPr>
        <p:spPr>
          <a:xfrm>
            <a:off x="4114800" y="2926080"/>
            <a:ext cx="1280160" cy="274320"/>
          </a:xfrm>
          <a:prstGeom prst="rect">
            <a:avLst/>
          </a:prstGeom>
          <a:noFill/>
          <a:ln/>
        </p:spPr>
        <p:txBody>
          <a:bodyPr wrap="square"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0</a:t>
            </a:r>
            <a:endParaRPr lang="en-US" sz="1100" dirty="0"/>
          </a:p>
        </p:txBody>
      </p:sp>
      <p:sp>
        <p:nvSpPr>
          <p:cNvPr id="13" name="Text 11"/>
          <p:cNvSpPr/>
          <p:nvPr/>
        </p:nvSpPr>
        <p:spPr>
          <a:xfrm>
            <a:off x="868680" y="3291840"/>
            <a:ext cx="2194560" cy="274320"/>
          </a:xfrm>
          <a:prstGeom prst="rect">
            <a:avLst/>
          </a:prstGeom>
          <a:noFill/>
          <a:ln/>
        </p:spPr>
        <p:txBody>
          <a:bodyPr wrap="square" rtlCol="0" anchor="ctr"/>
          <a:lstStyle/>
          <a:p>
            <a:pPr indent="0" marL="0">
              <a:buNone/>
            </a:pPr>
            <a:r>
              <a:rPr lang="en-US" sz="1100" dirty="0">
                <a:solidFill>
                  <a:srgbClr val="C7CEE0"/>
                </a:solidFill>
                <a:latin typeface="Calibri" pitchFamily="34" charset="0"/>
                <a:ea typeface="Calibri" pitchFamily="34" charset="-122"/>
                <a:cs typeface="Calibri" pitchFamily="34" charset="-120"/>
              </a:rPr>
              <a:t>...</a:t>
            </a:r>
            <a:endParaRPr lang="en-US" sz="1100" dirty="0"/>
          </a:p>
        </p:txBody>
      </p:sp>
      <p:sp>
        <p:nvSpPr>
          <p:cNvPr id="14" name="Text 12"/>
          <p:cNvSpPr/>
          <p:nvPr/>
        </p:nvSpPr>
        <p:spPr>
          <a:xfrm>
            <a:off x="4114800" y="3291840"/>
            <a:ext cx="1280160" cy="274320"/>
          </a:xfrm>
          <a:prstGeom prst="rect">
            <a:avLst/>
          </a:prstGeom>
          <a:noFill/>
          <a:ln/>
        </p:spPr>
        <p:txBody>
          <a:bodyPr wrap="square"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0</a:t>
            </a:r>
            <a:endParaRPr lang="en-US" sz="1100" dirty="0"/>
          </a:p>
        </p:txBody>
      </p:sp>
      <p:sp>
        <p:nvSpPr>
          <p:cNvPr id="15" name="Text 13"/>
          <p:cNvSpPr/>
          <p:nvPr/>
        </p:nvSpPr>
        <p:spPr>
          <a:xfrm>
            <a:off x="868680" y="3657600"/>
            <a:ext cx="2194560" cy="274320"/>
          </a:xfrm>
          <a:prstGeom prst="rect">
            <a:avLst/>
          </a:prstGeom>
          <a:noFill/>
          <a:ln/>
        </p:spPr>
        <p:txBody>
          <a:bodyPr wrap="square" rtlCol="0" anchor="ctr"/>
          <a:lstStyle/>
          <a:p>
            <a:pPr indent="0" marL="0">
              <a:buNone/>
            </a:pPr>
            <a:r>
              <a:rPr lang="en-US" sz="1100" dirty="0">
                <a:solidFill>
                  <a:srgbClr val="C7CEE0"/>
                </a:solidFill>
                <a:latin typeface="Calibri" pitchFamily="34" charset="0"/>
                <a:ea typeface="Calibri" pitchFamily="34" charset="-122"/>
                <a:cs typeface="Calibri" pitchFamily="34" charset="-120"/>
              </a:rPr>
              <a:t>V26</a:t>
            </a:r>
            <a:endParaRPr lang="en-US" sz="1100" dirty="0"/>
          </a:p>
        </p:txBody>
      </p:sp>
      <p:sp>
        <p:nvSpPr>
          <p:cNvPr id="16" name="Text 14"/>
          <p:cNvSpPr/>
          <p:nvPr/>
        </p:nvSpPr>
        <p:spPr>
          <a:xfrm>
            <a:off x="4114800" y="3657600"/>
            <a:ext cx="1280160" cy="274320"/>
          </a:xfrm>
          <a:prstGeom prst="rect">
            <a:avLst/>
          </a:prstGeom>
          <a:noFill/>
          <a:ln/>
        </p:spPr>
        <p:txBody>
          <a:bodyPr wrap="square"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0</a:t>
            </a:r>
            <a:endParaRPr lang="en-US" sz="1100" dirty="0"/>
          </a:p>
        </p:txBody>
      </p:sp>
      <p:sp>
        <p:nvSpPr>
          <p:cNvPr id="17" name="Text 15"/>
          <p:cNvSpPr/>
          <p:nvPr/>
        </p:nvSpPr>
        <p:spPr>
          <a:xfrm>
            <a:off x="868680" y="4023360"/>
            <a:ext cx="2194560" cy="274320"/>
          </a:xfrm>
          <a:prstGeom prst="rect">
            <a:avLst/>
          </a:prstGeom>
          <a:noFill/>
          <a:ln/>
        </p:spPr>
        <p:txBody>
          <a:bodyPr wrap="square" rtlCol="0" anchor="ctr"/>
          <a:lstStyle/>
          <a:p>
            <a:pPr indent="0" marL="0">
              <a:buNone/>
            </a:pPr>
            <a:r>
              <a:rPr lang="en-US" sz="1100" dirty="0">
                <a:solidFill>
                  <a:srgbClr val="C7CEE0"/>
                </a:solidFill>
                <a:latin typeface="Calibri" pitchFamily="34" charset="0"/>
                <a:ea typeface="Calibri" pitchFamily="34" charset="-122"/>
                <a:cs typeface="Calibri" pitchFamily="34" charset="-120"/>
              </a:rPr>
              <a:t>V27</a:t>
            </a:r>
            <a:endParaRPr lang="en-US" sz="1100" dirty="0"/>
          </a:p>
        </p:txBody>
      </p:sp>
      <p:sp>
        <p:nvSpPr>
          <p:cNvPr id="18" name="Text 16"/>
          <p:cNvSpPr/>
          <p:nvPr/>
        </p:nvSpPr>
        <p:spPr>
          <a:xfrm>
            <a:off x="4114800" y="4023360"/>
            <a:ext cx="1280160" cy="274320"/>
          </a:xfrm>
          <a:prstGeom prst="rect">
            <a:avLst/>
          </a:prstGeom>
          <a:noFill/>
          <a:ln/>
        </p:spPr>
        <p:txBody>
          <a:bodyPr wrap="square"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0</a:t>
            </a:r>
            <a:endParaRPr lang="en-US" sz="1100" dirty="0"/>
          </a:p>
        </p:txBody>
      </p:sp>
      <p:sp>
        <p:nvSpPr>
          <p:cNvPr id="19" name="Text 17"/>
          <p:cNvSpPr/>
          <p:nvPr/>
        </p:nvSpPr>
        <p:spPr>
          <a:xfrm>
            <a:off x="868680" y="4389120"/>
            <a:ext cx="2194560" cy="274320"/>
          </a:xfrm>
          <a:prstGeom prst="rect">
            <a:avLst/>
          </a:prstGeom>
          <a:noFill/>
          <a:ln/>
        </p:spPr>
        <p:txBody>
          <a:bodyPr wrap="square" rtlCol="0" anchor="ctr"/>
          <a:lstStyle/>
          <a:p>
            <a:pPr indent="0" marL="0">
              <a:buNone/>
            </a:pPr>
            <a:r>
              <a:rPr lang="en-US" sz="1100" dirty="0">
                <a:solidFill>
                  <a:srgbClr val="C7CEE0"/>
                </a:solidFill>
                <a:latin typeface="Calibri" pitchFamily="34" charset="0"/>
                <a:ea typeface="Calibri" pitchFamily="34" charset="-122"/>
                <a:cs typeface="Calibri" pitchFamily="34" charset="-120"/>
              </a:rPr>
              <a:t>V28</a:t>
            </a:r>
            <a:endParaRPr lang="en-US" sz="1100" dirty="0"/>
          </a:p>
        </p:txBody>
      </p:sp>
      <p:sp>
        <p:nvSpPr>
          <p:cNvPr id="20" name="Text 18"/>
          <p:cNvSpPr/>
          <p:nvPr/>
        </p:nvSpPr>
        <p:spPr>
          <a:xfrm>
            <a:off x="4114800" y="4389120"/>
            <a:ext cx="1280160" cy="274320"/>
          </a:xfrm>
          <a:prstGeom prst="rect">
            <a:avLst/>
          </a:prstGeom>
          <a:noFill/>
          <a:ln/>
        </p:spPr>
        <p:txBody>
          <a:bodyPr wrap="square"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0</a:t>
            </a:r>
            <a:endParaRPr lang="en-US" sz="1100" dirty="0"/>
          </a:p>
        </p:txBody>
      </p:sp>
      <p:sp>
        <p:nvSpPr>
          <p:cNvPr id="21" name="Text 19"/>
          <p:cNvSpPr/>
          <p:nvPr/>
        </p:nvSpPr>
        <p:spPr>
          <a:xfrm>
            <a:off x="868680" y="4754880"/>
            <a:ext cx="2194560" cy="274320"/>
          </a:xfrm>
          <a:prstGeom prst="rect">
            <a:avLst/>
          </a:prstGeom>
          <a:noFill/>
          <a:ln/>
        </p:spPr>
        <p:txBody>
          <a:bodyPr wrap="square" rtlCol="0" anchor="ctr"/>
          <a:lstStyle/>
          <a:p>
            <a:pPr indent="0" marL="0">
              <a:buNone/>
            </a:pPr>
            <a:r>
              <a:rPr lang="en-US" sz="1100" dirty="0">
                <a:solidFill>
                  <a:srgbClr val="C7CEE0"/>
                </a:solidFill>
                <a:latin typeface="Calibri" pitchFamily="34" charset="0"/>
                <a:ea typeface="Calibri" pitchFamily="34" charset="-122"/>
                <a:cs typeface="Calibri" pitchFamily="34" charset="-120"/>
              </a:rPr>
              <a:t>Amount</a:t>
            </a:r>
            <a:endParaRPr lang="en-US" sz="1100" dirty="0"/>
          </a:p>
        </p:txBody>
      </p:sp>
      <p:sp>
        <p:nvSpPr>
          <p:cNvPr id="22" name="Text 20"/>
          <p:cNvSpPr/>
          <p:nvPr/>
        </p:nvSpPr>
        <p:spPr>
          <a:xfrm>
            <a:off x="4114800" y="4754880"/>
            <a:ext cx="1280160" cy="274320"/>
          </a:xfrm>
          <a:prstGeom prst="rect">
            <a:avLst/>
          </a:prstGeom>
          <a:noFill/>
          <a:ln/>
        </p:spPr>
        <p:txBody>
          <a:bodyPr wrap="square"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0</a:t>
            </a:r>
            <a:endParaRPr lang="en-US" sz="1100" dirty="0"/>
          </a:p>
        </p:txBody>
      </p:sp>
      <p:sp>
        <p:nvSpPr>
          <p:cNvPr id="23" name="Text 21"/>
          <p:cNvSpPr/>
          <p:nvPr/>
        </p:nvSpPr>
        <p:spPr>
          <a:xfrm>
            <a:off x="868680" y="5120640"/>
            <a:ext cx="2194560" cy="274320"/>
          </a:xfrm>
          <a:prstGeom prst="rect">
            <a:avLst/>
          </a:prstGeom>
          <a:noFill/>
          <a:ln/>
        </p:spPr>
        <p:txBody>
          <a:bodyPr wrap="square" rtlCol="0" anchor="ctr"/>
          <a:lstStyle/>
          <a:p>
            <a:pPr indent="0" marL="0">
              <a:buNone/>
            </a:pPr>
            <a:r>
              <a:rPr lang="en-US" sz="1100" dirty="0">
                <a:solidFill>
                  <a:srgbClr val="C7CEE0"/>
                </a:solidFill>
                <a:latin typeface="Calibri" pitchFamily="34" charset="0"/>
                <a:ea typeface="Calibri" pitchFamily="34" charset="-122"/>
                <a:cs typeface="Calibri" pitchFamily="34" charset="-120"/>
              </a:rPr>
              <a:t>Class</a:t>
            </a:r>
            <a:endParaRPr lang="en-US" sz="1100" dirty="0"/>
          </a:p>
        </p:txBody>
      </p:sp>
      <p:sp>
        <p:nvSpPr>
          <p:cNvPr id="24" name="Text 22"/>
          <p:cNvSpPr/>
          <p:nvPr/>
        </p:nvSpPr>
        <p:spPr>
          <a:xfrm>
            <a:off x="4114800" y="5120640"/>
            <a:ext cx="1280160" cy="274320"/>
          </a:xfrm>
          <a:prstGeom prst="rect">
            <a:avLst/>
          </a:prstGeom>
          <a:noFill/>
          <a:ln/>
        </p:spPr>
        <p:txBody>
          <a:bodyPr wrap="square"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0</a:t>
            </a:r>
            <a:endParaRPr lang="en-US" sz="1100" dirty="0"/>
          </a:p>
        </p:txBody>
      </p:sp>
      <p:sp>
        <p:nvSpPr>
          <p:cNvPr id="25" name="Shape 23"/>
          <p:cNvSpPr/>
          <p:nvPr/>
        </p:nvSpPr>
        <p:spPr>
          <a:xfrm>
            <a:off x="868680" y="5559552"/>
            <a:ext cx="4663440" cy="502920"/>
          </a:xfrm>
          <a:prstGeom prst="roundRect">
            <a:avLst>
              <a:gd name="adj" fmla="val 9091"/>
            </a:avLst>
          </a:prstGeom>
          <a:solidFill>
            <a:srgbClr val="182645"/>
          </a:solidFill>
          <a:ln/>
        </p:spPr>
      </p:sp>
      <p:sp>
        <p:nvSpPr>
          <p:cNvPr id="26" name="Text 24"/>
          <p:cNvSpPr/>
          <p:nvPr/>
        </p:nvSpPr>
        <p:spPr>
          <a:xfrm>
            <a:off x="1051560" y="5559552"/>
            <a:ext cx="4297680" cy="502920"/>
          </a:xfrm>
          <a:prstGeom prst="rect">
            <a:avLst/>
          </a:prstGeom>
          <a:noFill/>
          <a:ln/>
        </p:spPr>
        <p:txBody>
          <a:bodyPr wrap="square" rtlCol="0" anchor="ctr"/>
          <a:lstStyle/>
          <a:p>
            <a:pPr indent="0" marL="0">
              <a:buNone/>
            </a:pPr>
            <a:r>
              <a:rPr lang="en-US" sz="1100" b="1" dirty="0">
                <a:solidFill>
                  <a:srgbClr val="F2B134"/>
                </a:solidFill>
                <a:latin typeface="Calibri" pitchFamily="34" charset="0"/>
                <a:ea typeface="Calibri" pitchFamily="34" charset="-122"/>
                <a:cs typeface="Calibri" pitchFamily="34" charset="-120"/>
              </a:rPr>
              <a:t>Total missing values across all 284,807 rows: 0</a:t>
            </a:r>
            <a:endParaRPr lang="en-US" sz="1100" dirty="0"/>
          </a:p>
        </p:txBody>
      </p:sp>
      <p:sp>
        <p:nvSpPr>
          <p:cNvPr id="27" name="Text 25"/>
          <p:cNvSpPr/>
          <p:nvPr/>
        </p:nvSpPr>
        <p:spPr>
          <a:xfrm>
            <a:off x="5989320" y="1280160"/>
            <a:ext cx="5486400" cy="320040"/>
          </a:xfrm>
          <a:prstGeom prst="rect">
            <a:avLst/>
          </a:prstGeom>
          <a:noFill/>
          <a:ln/>
        </p:spPr>
        <p:txBody>
          <a:bodyPr wrap="square"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Key preprocessing steps</a:t>
            </a:r>
            <a:endParaRPr lang="en-US" sz="1500" dirty="0"/>
          </a:p>
        </p:txBody>
      </p:sp>
      <p:sp>
        <p:nvSpPr>
          <p:cNvPr id="28" name="Shape 26"/>
          <p:cNvSpPr/>
          <p:nvPr/>
        </p:nvSpPr>
        <p:spPr>
          <a:xfrm>
            <a:off x="5989320" y="1691640"/>
            <a:ext cx="5532120" cy="1051560"/>
          </a:xfrm>
          <a:prstGeom prst="roundRect">
            <a:avLst>
              <a:gd name="adj" fmla="val 5217"/>
            </a:avLst>
          </a:prstGeom>
          <a:solidFill>
            <a:srgbClr val="FFFFFF"/>
          </a:solidFill>
          <a:ln w="12700">
            <a:solidFill>
              <a:srgbClr val="E3E6EF"/>
            </a:solidFill>
            <a:prstDash val="solid"/>
          </a:ln>
          <a:effectLst>
            <a:outerShdw sx="100000" sy="100000" kx="0" ky="0" algn="bl" rotWithShape="0" blurRad="101600" dist="25400" dir="5400000">
              <a:srgbClr val="1B2A4A">
                <a:alpha val="12000"/>
              </a:srgbClr>
            </a:outerShdw>
          </a:effectLst>
        </p:spPr>
      </p:sp>
      <p:sp>
        <p:nvSpPr>
          <p:cNvPr id="29" name="Shape 27"/>
          <p:cNvSpPr/>
          <p:nvPr/>
        </p:nvSpPr>
        <p:spPr>
          <a:xfrm>
            <a:off x="6172200" y="1837944"/>
            <a:ext cx="54864" cy="749808"/>
          </a:xfrm>
          <a:prstGeom prst="rect">
            <a:avLst/>
          </a:prstGeom>
          <a:solidFill>
            <a:srgbClr val="F76C5E"/>
          </a:solidFill>
          <a:ln/>
        </p:spPr>
      </p:sp>
      <p:sp>
        <p:nvSpPr>
          <p:cNvPr id="30" name="Text 28"/>
          <p:cNvSpPr/>
          <p:nvPr/>
        </p:nvSpPr>
        <p:spPr>
          <a:xfrm>
            <a:off x="6355080" y="1783080"/>
            <a:ext cx="5029200" cy="274320"/>
          </a:xfrm>
          <a:prstGeom prst="rect">
            <a:avLst/>
          </a:prstGeom>
          <a:noFill/>
          <a:ln/>
        </p:spPr>
        <p:txBody>
          <a:bodyPr wrap="square"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No imputation needed</a:t>
            </a:r>
            <a:endParaRPr lang="en-US" sz="1250" dirty="0"/>
          </a:p>
        </p:txBody>
      </p:sp>
      <p:sp>
        <p:nvSpPr>
          <p:cNvPr id="31" name="Text 29"/>
          <p:cNvSpPr/>
          <p:nvPr/>
        </p:nvSpPr>
        <p:spPr>
          <a:xfrm>
            <a:off x="6355080" y="2075688"/>
            <a:ext cx="5029200" cy="621792"/>
          </a:xfrm>
          <a:prstGeom prst="rect">
            <a:avLst/>
          </a:prstGeom>
          <a:noFill/>
          <a:ln/>
        </p:spPr>
        <p:txBody>
          <a:bodyPr wrap="square" rtlCol="0" anchor="ctr"/>
          <a:lstStyle/>
          <a:p>
            <a:pPr indent="0" marL="0">
              <a:lnSpc>
                <a:spcPct val="102000"/>
              </a:lnSpc>
              <a:buNone/>
            </a:pPr>
            <a:r>
              <a:rPr lang="en-US" sz="1000" dirty="0">
                <a:solidFill>
                  <a:srgbClr val="44506B"/>
                </a:solidFill>
                <a:latin typeface="Calibri" pitchFamily="34" charset="0"/>
                <a:ea typeface="Calibri" pitchFamily="34" charset="-122"/>
                <a:cs typeface="Calibri" pitchFamily="34" charset="-120"/>
              </a:rPr>
              <a:t>Dataset ships fully clean — confirmed zero nulls across every column, so no row/column drops or fills are required.</a:t>
            </a:r>
            <a:endParaRPr lang="en-US" sz="1000" dirty="0"/>
          </a:p>
        </p:txBody>
      </p:sp>
      <p:sp>
        <p:nvSpPr>
          <p:cNvPr id="32" name="Shape 30"/>
          <p:cNvSpPr/>
          <p:nvPr/>
        </p:nvSpPr>
        <p:spPr>
          <a:xfrm>
            <a:off x="5989320" y="2880360"/>
            <a:ext cx="5532120" cy="1051560"/>
          </a:xfrm>
          <a:prstGeom prst="roundRect">
            <a:avLst>
              <a:gd name="adj" fmla="val 5217"/>
            </a:avLst>
          </a:prstGeom>
          <a:solidFill>
            <a:srgbClr val="FFFFFF"/>
          </a:solidFill>
          <a:ln w="12700">
            <a:solidFill>
              <a:srgbClr val="E3E6EF"/>
            </a:solidFill>
            <a:prstDash val="solid"/>
          </a:ln>
          <a:effectLst>
            <a:outerShdw sx="100000" sy="100000" kx="0" ky="0" algn="bl" rotWithShape="0" blurRad="101600" dist="25400" dir="5400000">
              <a:srgbClr val="1B2A4A">
                <a:alpha val="12000"/>
              </a:srgbClr>
            </a:outerShdw>
          </a:effectLst>
        </p:spPr>
      </p:sp>
      <p:sp>
        <p:nvSpPr>
          <p:cNvPr id="33" name="Shape 31"/>
          <p:cNvSpPr/>
          <p:nvPr/>
        </p:nvSpPr>
        <p:spPr>
          <a:xfrm>
            <a:off x="6172200" y="3026664"/>
            <a:ext cx="54864" cy="749808"/>
          </a:xfrm>
          <a:prstGeom prst="rect">
            <a:avLst/>
          </a:prstGeom>
          <a:solidFill>
            <a:srgbClr val="F76C5E"/>
          </a:solidFill>
          <a:ln/>
        </p:spPr>
      </p:sp>
      <p:sp>
        <p:nvSpPr>
          <p:cNvPr id="34" name="Text 32"/>
          <p:cNvSpPr/>
          <p:nvPr/>
        </p:nvSpPr>
        <p:spPr>
          <a:xfrm>
            <a:off x="6355080" y="2971800"/>
            <a:ext cx="5029200" cy="274320"/>
          </a:xfrm>
          <a:prstGeom prst="rect">
            <a:avLst/>
          </a:prstGeom>
          <a:noFill/>
          <a:ln/>
        </p:spPr>
        <p:txBody>
          <a:bodyPr wrap="square"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Feature scaling (Time &amp; Amount)</a:t>
            </a:r>
            <a:endParaRPr lang="en-US" sz="1250" dirty="0"/>
          </a:p>
        </p:txBody>
      </p:sp>
      <p:sp>
        <p:nvSpPr>
          <p:cNvPr id="35" name="Text 33"/>
          <p:cNvSpPr/>
          <p:nvPr/>
        </p:nvSpPr>
        <p:spPr>
          <a:xfrm>
            <a:off x="6355080" y="3264408"/>
            <a:ext cx="5029200" cy="621792"/>
          </a:xfrm>
          <a:prstGeom prst="rect">
            <a:avLst/>
          </a:prstGeom>
          <a:noFill/>
          <a:ln/>
        </p:spPr>
        <p:txBody>
          <a:bodyPr wrap="square" rtlCol="0" anchor="ctr"/>
          <a:lstStyle/>
          <a:p>
            <a:pPr indent="0" marL="0">
              <a:lnSpc>
                <a:spcPct val="102000"/>
              </a:lnSpc>
              <a:buNone/>
            </a:pPr>
            <a:r>
              <a:rPr lang="en-US" sz="1000" dirty="0">
                <a:solidFill>
                  <a:srgbClr val="44506B"/>
                </a:solidFill>
                <a:latin typeface="Calibri" pitchFamily="34" charset="0"/>
                <a:ea typeface="Calibri" pitchFamily="34" charset="-122"/>
                <a:cs typeface="Calibri" pitchFamily="34" charset="-120"/>
              </a:rPr>
              <a:t>V1–V28 are already PCA-scaled; Time and Amount are standardized (StandardScaler / RobustScaler) so they don’t dominate distance- and gradient-based steps.</a:t>
            </a:r>
            <a:endParaRPr lang="en-US" sz="1000" dirty="0"/>
          </a:p>
        </p:txBody>
      </p:sp>
      <p:sp>
        <p:nvSpPr>
          <p:cNvPr id="36" name="Shape 34"/>
          <p:cNvSpPr/>
          <p:nvPr/>
        </p:nvSpPr>
        <p:spPr>
          <a:xfrm>
            <a:off x="5989320" y="4069080"/>
            <a:ext cx="5532120" cy="1051560"/>
          </a:xfrm>
          <a:prstGeom prst="roundRect">
            <a:avLst>
              <a:gd name="adj" fmla="val 5217"/>
            </a:avLst>
          </a:prstGeom>
          <a:solidFill>
            <a:srgbClr val="FFFFFF"/>
          </a:solidFill>
          <a:ln w="12700">
            <a:solidFill>
              <a:srgbClr val="E3E6EF"/>
            </a:solidFill>
            <a:prstDash val="solid"/>
          </a:ln>
          <a:effectLst>
            <a:outerShdw sx="100000" sy="100000" kx="0" ky="0" algn="bl" rotWithShape="0" blurRad="101600" dist="25400" dir="5400000">
              <a:srgbClr val="1B2A4A">
                <a:alpha val="12000"/>
              </a:srgbClr>
            </a:outerShdw>
          </a:effectLst>
        </p:spPr>
      </p:sp>
      <p:sp>
        <p:nvSpPr>
          <p:cNvPr id="37" name="Shape 35"/>
          <p:cNvSpPr/>
          <p:nvPr/>
        </p:nvSpPr>
        <p:spPr>
          <a:xfrm>
            <a:off x="6172200" y="4215384"/>
            <a:ext cx="54864" cy="749808"/>
          </a:xfrm>
          <a:prstGeom prst="rect">
            <a:avLst/>
          </a:prstGeom>
          <a:solidFill>
            <a:srgbClr val="F76C5E"/>
          </a:solidFill>
          <a:ln/>
        </p:spPr>
      </p:sp>
      <p:sp>
        <p:nvSpPr>
          <p:cNvPr id="38" name="Text 36"/>
          <p:cNvSpPr/>
          <p:nvPr/>
        </p:nvSpPr>
        <p:spPr>
          <a:xfrm>
            <a:off x="6355080" y="4160520"/>
            <a:ext cx="5029200" cy="274320"/>
          </a:xfrm>
          <a:prstGeom prst="rect">
            <a:avLst/>
          </a:prstGeom>
          <a:noFill/>
          <a:ln/>
        </p:spPr>
        <p:txBody>
          <a:bodyPr wrap="square"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Class imbalance handling</a:t>
            </a:r>
            <a:endParaRPr lang="en-US" sz="1250" dirty="0"/>
          </a:p>
        </p:txBody>
      </p:sp>
      <p:sp>
        <p:nvSpPr>
          <p:cNvPr id="39" name="Text 37"/>
          <p:cNvSpPr/>
          <p:nvPr/>
        </p:nvSpPr>
        <p:spPr>
          <a:xfrm>
            <a:off x="6355080" y="4453128"/>
            <a:ext cx="5029200" cy="621792"/>
          </a:xfrm>
          <a:prstGeom prst="rect">
            <a:avLst/>
          </a:prstGeom>
          <a:noFill/>
          <a:ln/>
        </p:spPr>
        <p:txBody>
          <a:bodyPr wrap="square" rtlCol="0" anchor="ctr"/>
          <a:lstStyle/>
          <a:p>
            <a:pPr indent="0" marL="0">
              <a:lnSpc>
                <a:spcPct val="102000"/>
              </a:lnSpc>
              <a:buNone/>
            </a:pPr>
            <a:r>
              <a:rPr lang="en-US" sz="1000" dirty="0">
                <a:solidFill>
                  <a:srgbClr val="44506B"/>
                </a:solidFill>
                <a:latin typeface="Calibri" pitchFamily="34" charset="0"/>
                <a:ea typeface="Calibri" pitchFamily="34" charset="-122"/>
                <a:cs typeface="Calibri" pitchFamily="34" charset="-120"/>
              </a:rPr>
              <a:t>With fraud at just 0.17% of rows, techniques such as SMOTE, class-weighting, or undersampling are applied before/during model training.</a:t>
            </a:r>
            <a:endParaRPr lang="en-US" sz="1000" dirty="0"/>
          </a:p>
        </p:txBody>
      </p:sp>
      <p:sp>
        <p:nvSpPr>
          <p:cNvPr id="40" name="Shape 38"/>
          <p:cNvSpPr/>
          <p:nvPr/>
        </p:nvSpPr>
        <p:spPr>
          <a:xfrm>
            <a:off x="5989320" y="5257800"/>
            <a:ext cx="5532120" cy="1051560"/>
          </a:xfrm>
          <a:prstGeom prst="roundRect">
            <a:avLst>
              <a:gd name="adj" fmla="val 5217"/>
            </a:avLst>
          </a:prstGeom>
          <a:solidFill>
            <a:srgbClr val="FFFFFF"/>
          </a:solidFill>
          <a:ln w="12700">
            <a:solidFill>
              <a:srgbClr val="E3E6EF"/>
            </a:solidFill>
            <a:prstDash val="solid"/>
          </a:ln>
          <a:effectLst>
            <a:outerShdw sx="100000" sy="100000" kx="0" ky="0" algn="bl" rotWithShape="0" blurRad="101600" dist="25400" dir="5400000">
              <a:srgbClr val="1B2A4A">
                <a:alpha val="12000"/>
              </a:srgbClr>
            </a:outerShdw>
          </a:effectLst>
        </p:spPr>
      </p:sp>
      <p:sp>
        <p:nvSpPr>
          <p:cNvPr id="41" name="Shape 39"/>
          <p:cNvSpPr/>
          <p:nvPr/>
        </p:nvSpPr>
        <p:spPr>
          <a:xfrm>
            <a:off x="6172200" y="5404104"/>
            <a:ext cx="54864" cy="749808"/>
          </a:xfrm>
          <a:prstGeom prst="rect">
            <a:avLst/>
          </a:prstGeom>
          <a:solidFill>
            <a:srgbClr val="F76C5E"/>
          </a:solidFill>
          <a:ln/>
        </p:spPr>
      </p:sp>
      <p:sp>
        <p:nvSpPr>
          <p:cNvPr id="42" name="Text 40"/>
          <p:cNvSpPr/>
          <p:nvPr/>
        </p:nvSpPr>
        <p:spPr>
          <a:xfrm>
            <a:off x="6355080" y="5349240"/>
            <a:ext cx="5029200" cy="274320"/>
          </a:xfrm>
          <a:prstGeom prst="rect">
            <a:avLst/>
          </a:prstGeom>
          <a:noFill/>
          <a:ln/>
        </p:spPr>
        <p:txBody>
          <a:bodyPr wrap="square"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Train/test split</a:t>
            </a:r>
            <a:endParaRPr lang="en-US" sz="1250" dirty="0"/>
          </a:p>
        </p:txBody>
      </p:sp>
      <p:sp>
        <p:nvSpPr>
          <p:cNvPr id="43" name="Text 41"/>
          <p:cNvSpPr/>
          <p:nvPr/>
        </p:nvSpPr>
        <p:spPr>
          <a:xfrm>
            <a:off x="6355080" y="5641848"/>
            <a:ext cx="5029200" cy="621792"/>
          </a:xfrm>
          <a:prstGeom prst="rect">
            <a:avLst/>
          </a:prstGeom>
          <a:noFill/>
          <a:ln/>
        </p:spPr>
        <p:txBody>
          <a:bodyPr wrap="square" rtlCol="0" anchor="ctr"/>
          <a:lstStyle/>
          <a:p>
            <a:pPr indent="0" marL="0">
              <a:lnSpc>
                <a:spcPct val="102000"/>
              </a:lnSpc>
              <a:buNone/>
            </a:pPr>
            <a:r>
              <a:rPr lang="en-US" sz="1000" dirty="0">
                <a:solidFill>
                  <a:srgbClr val="44506B"/>
                </a:solidFill>
                <a:latin typeface="Calibri" pitchFamily="34" charset="0"/>
                <a:ea typeface="Calibri" pitchFamily="34" charset="-122"/>
                <a:cs typeface="Calibri" pitchFamily="34" charset="-120"/>
              </a:rPr>
              <a:t>Stratified split preserves the fraud ratio in both sets so evaluation reflects real-world class distribution.</a:t>
            </a:r>
            <a:endParaRPr lang="en-US" sz="1000" dirty="0"/>
          </a:p>
        </p:txBody>
      </p:sp>
      <p:sp>
        <p:nvSpPr>
          <p:cNvPr id="44" name="Text 42"/>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9AA3BD"/>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651760" cy="365760"/>
          </a:xfrm>
          <a:prstGeom prst="roundRect">
            <a:avLst>
              <a:gd name="adj" fmla="val 15000"/>
            </a:avLst>
          </a:prstGeom>
          <a:solidFill>
            <a:srgbClr val="F7F7F5"/>
          </a:solidFill>
          <a:ln/>
        </p:spPr>
      </p:sp>
      <p:sp>
        <p:nvSpPr>
          <p:cNvPr id="3" name="Text 1"/>
          <p:cNvSpPr/>
          <p:nvPr/>
        </p:nvSpPr>
        <p:spPr>
          <a:xfrm>
            <a:off x="640080" y="502920"/>
            <a:ext cx="2651760" cy="365760"/>
          </a:xfrm>
          <a:prstGeom prst="rect">
            <a:avLst/>
          </a:prstGeom>
          <a:noFill/>
          <a:ln/>
        </p:spPr>
        <p:txBody>
          <a:bodyPr wrap="square" rtlCol="0" anchor="ctr"/>
          <a:lstStyle/>
          <a:p>
            <a:pPr algn="ctr" indent="0" marL="0">
              <a:buNone/>
            </a:pPr>
            <a:r>
              <a:rPr lang="en-US" sz="1000" b="1" spc="100" kern="0" dirty="0">
                <a:solidFill>
                  <a:srgbClr val="F76C5E"/>
                </a:solidFill>
                <a:latin typeface="Calibri" pitchFamily="34" charset="0"/>
                <a:ea typeface="Calibri" pitchFamily="34" charset="-122"/>
                <a:cs typeface="Calibri" pitchFamily="34" charset="-120"/>
              </a:rPr>
              <a:t>EXPLORATORY ANALYSIS</a:t>
            </a:r>
            <a:endParaRPr lang="en-US" sz="1000" dirty="0"/>
          </a:p>
        </p:txBody>
      </p:sp>
      <p:sp>
        <p:nvSpPr>
          <p:cNvPr id="4" name="Text 2"/>
          <p:cNvSpPr/>
          <p:nvPr/>
        </p:nvSpPr>
        <p:spPr>
          <a:xfrm>
            <a:off x="640080" y="914400"/>
            <a:ext cx="8229600" cy="548640"/>
          </a:xfrm>
          <a:prstGeom prst="rect">
            <a:avLst/>
          </a:prstGeom>
          <a:noFill/>
          <a:ln/>
        </p:spPr>
        <p:txBody>
          <a:bodyPr wrap="square"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EDA — Class Distribution</a:t>
            </a:r>
            <a:endParaRPr lang="en-US" sz="2800" dirty="0"/>
          </a:p>
        </p:txBody>
      </p:sp>
      <p:pic>
        <p:nvPicPr>
          <p:cNvPr id="5" name="Image 0" descr="assets/class_bar.png">    </p:cNvPr>
          <p:cNvPicPr>
            <a:picLocks noChangeAspect="1"/>
          </p:cNvPicPr>
          <p:nvPr/>
        </p:nvPicPr>
        <p:blipFill>
          <a:blip r:embed="rId1"/>
          <a:stretch>
            <a:fillRect/>
          </a:stretch>
        </p:blipFill>
        <p:spPr>
          <a:xfrm>
            <a:off x="640080" y="1600200"/>
            <a:ext cx="6309360" cy="3977640"/>
          </a:xfrm>
          <a:prstGeom prst="rect">
            <a:avLst/>
          </a:prstGeom>
        </p:spPr>
      </p:pic>
      <p:sp>
        <p:nvSpPr>
          <p:cNvPr id="6" name="Shape 3"/>
          <p:cNvSpPr/>
          <p:nvPr/>
        </p:nvSpPr>
        <p:spPr>
          <a:xfrm>
            <a:off x="7223760" y="1691640"/>
            <a:ext cx="4297680" cy="1828800"/>
          </a:xfrm>
          <a:prstGeom prst="roundRect">
            <a:avLst>
              <a:gd name="adj" fmla="val 4000"/>
            </a:avLst>
          </a:prstGeom>
          <a:solidFill>
            <a:srgbClr val="121E38"/>
          </a:solidFill>
          <a:ln/>
        </p:spPr>
      </p:sp>
      <p:sp>
        <p:nvSpPr>
          <p:cNvPr id="7" name="Text 4"/>
          <p:cNvSpPr/>
          <p:nvPr/>
        </p:nvSpPr>
        <p:spPr>
          <a:xfrm>
            <a:off x="7452360" y="1874520"/>
            <a:ext cx="3840480" cy="82296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99.83%</a:t>
            </a:r>
            <a:endParaRPr lang="en-US" sz="4000" dirty="0"/>
          </a:p>
        </p:txBody>
      </p:sp>
      <p:sp>
        <p:nvSpPr>
          <p:cNvPr id="8" name="Text 5"/>
          <p:cNvSpPr/>
          <p:nvPr/>
        </p:nvSpPr>
        <p:spPr>
          <a:xfrm>
            <a:off x="7452360" y="2697480"/>
            <a:ext cx="3840480" cy="548640"/>
          </a:xfrm>
          <a:prstGeom prst="rect">
            <a:avLst/>
          </a:prstGeom>
          <a:noFill/>
          <a:ln/>
        </p:spPr>
        <p:txBody>
          <a:bodyPr wrap="square" rtlCol="0" anchor="ctr"/>
          <a:lstStyle/>
          <a:p>
            <a:pPr indent="0" marL="0">
              <a:buNone/>
            </a:pPr>
            <a:r>
              <a:rPr lang="en-US" sz="1200" dirty="0">
                <a:solidFill>
                  <a:srgbClr val="C7CEE0"/>
                </a:solidFill>
                <a:latin typeface="Calibri" pitchFamily="34" charset="0"/>
                <a:ea typeface="Calibri" pitchFamily="34" charset="-122"/>
                <a:cs typeface="Calibri" pitchFamily="34" charset="-120"/>
              </a:rPr>
              <a:t>Genuine transactions (284,315)</a:t>
            </a:r>
            <a:endParaRPr lang="en-US" sz="1200" dirty="0"/>
          </a:p>
        </p:txBody>
      </p:sp>
      <p:sp>
        <p:nvSpPr>
          <p:cNvPr id="9" name="Shape 6"/>
          <p:cNvSpPr/>
          <p:nvPr/>
        </p:nvSpPr>
        <p:spPr>
          <a:xfrm>
            <a:off x="7223760" y="3657600"/>
            <a:ext cx="4297680" cy="1828800"/>
          </a:xfrm>
          <a:prstGeom prst="roundRect">
            <a:avLst>
              <a:gd name="adj" fmla="val 4000"/>
            </a:avLst>
          </a:prstGeom>
          <a:solidFill>
            <a:srgbClr val="F76C5E"/>
          </a:solidFill>
          <a:ln/>
        </p:spPr>
      </p:sp>
      <p:sp>
        <p:nvSpPr>
          <p:cNvPr id="10" name="Text 7"/>
          <p:cNvSpPr/>
          <p:nvPr/>
        </p:nvSpPr>
        <p:spPr>
          <a:xfrm>
            <a:off x="7452360" y="3840480"/>
            <a:ext cx="3840480" cy="822960"/>
          </a:xfrm>
          <a:prstGeom prst="rect">
            <a:avLst/>
          </a:prstGeom>
          <a:noFill/>
          <a:ln/>
        </p:spPr>
        <p:txBody>
          <a:bodyPr wrap="square" rtlCol="0" anchor="ctr"/>
          <a:lstStyle/>
          <a:p>
            <a:pPr indent="0" marL="0">
              <a:buNone/>
            </a:pPr>
            <a:r>
              <a:rPr lang="en-US" sz="4000" b="1" dirty="0">
                <a:solidFill>
                  <a:srgbClr val="121E38"/>
                </a:solidFill>
                <a:latin typeface="Cambria" pitchFamily="34" charset="0"/>
                <a:ea typeface="Cambria" pitchFamily="34" charset="-122"/>
                <a:cs typeface="Cambria" pitchFamily="34" charset="-120"/>
              </a:rPr>
              <a:t>0.17%</a:t>
            </a:r>
            <a:endParaRPr lang="en-US" sz="4000" dirty="0"/>
          </a:p>
        </p:txBody>
      </p:sp>
      <p:sp>
        <p:nvSpPr>
          <p:cNvPr id="11" name="Text 8"/>
          <p:cNvSpPr/>
          <p:nvPr/>
        </p:nvSpPr>
        <p:spPr>
          <a:xfrm>
            <a:off x="7452360" y="4663440"/>
            <a:ext cx="3840480" cy="548640"/>
          </a:xfrm>
          <a:prstGeom prst="rect">
            <a:avLst/>
          </a:prstGeom>
          <a:noFill/>
          <a:ln/>
        </p:spPr>
        <p:txBody>
          <a:bodyPr wrap="square" rtlCol="0" anchor="ctr"/>
          <a:lstStyle/>
          <a:p>
            <a:pPr indent="0" marL="0">
              <a:buNone/>
            </a:pPr>
            <a:r>
              <a:rPr lang="en-US" sz="1200" dirty="0">
                <a:solidFill>
                  <a:srgbClr val="121E38"/>
                </a:solidFill>
                <a:latin typeface="Calibri" pitchFamily="34" charset="0"/>
                <a:ea typeface="Calibri" pitchFamily="34" charset="-122"/>
                <a:cs typeface="Calibri" pitchFamily="34" charset="-120"/>
              </a:rPr>
              <a:t>Fraudulent transactions (492)</a:t>
            </a:r>
            <a:endParaRPr lang="en-US" sz="1200" dirty="0"/>
          </a:p>
        </p:txBody>
      </p:sp>
      <p:sp>
        <p:nvSpPr>
          <p:cNvPr id="12" name="Shape 9"/>
          <p:cNvSpPr/>
          <p:nvPr/>
        </p:nvSpPr>
        <p:spPr>
          <a:xfrm>
            <a:off x="640080" y="5715000"/>
            <a:ext cx="10881360" cy="868680"/>
          </a:xfrm>
          <a:prstGeom prst="roundRect">
            <a:avLst>
              <a:gd name="adj" fmla="val 6316"/>
            </a:avLst>
          </a:prstGeom>
          <a:solidFill>
            <a:srgbClr val="121E38"/>
          </a:solidFill>
          <a:ln/>
        </p:spPr>
      </p:sp>
      <p:sp>
        <p:nvSpPr>
          <p:cNvPr id="13" name="Text 10"/>
          <p:cNvSpPr/>
          <p:nvPr/>
        </p:nvSpPr>
        <p:spPr>
          <a:xfrm>
            <a:off x="868680" y="5715000"/>
            <a:ext cx="10424160" cy="868680"/>
          </a:xfrm>
          <a:prstGeom prst="rect">
            <a:avLst/>
          </a:prstGeom>
          <a:noFill/>
          <a:ln/>
        </p:spPr>
        <p:txBody>
          <a:bodyPr wrap="square" rtlCol="0" anchor="ctr"/>
          <a:lstStyle/>
          <a:p>
            <a:pPr indent="0" marL="0">
              <a:lnSpc>
                <a:spcPct val="105000"/>
              </a:lnSpc>
              <a:buNone/>
            </a:pPr>
            <a:r>
              <a:rPr lang="en-US" sz="1050" b="1" dirty="0">
                <a:solidFill>
                  <a:srgbClr val="F76C5E"/>
                </a:solidFill>
                <a:latin typeface="Calibri" pitchFamily="34" charset="0"/>
                <a:ea typeface="Calibri" pitchFamily="34" charset="-122"/>
                <a:cs typeface="Calibri" pitchFamily="34" charset="-120"/>
              </a:rPr>
              <a:t>Takeaway:  </a:t>
            </a:r>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Genuine transactions make up 99.83% of the data versus just 0.17% fraud (492 of 284,807) — a severe class imbalance that plain accuracy cannot capture, motivating the Isolation Forest component and imbalance-aware evaluation (precision, recall, F1, ROC-AUC).</a:t>
            </a:r>
            <a:endParaRPr lang="en-US" sz="1050" dirty="0"/>
          </a:p>
        </p:txBody>
      </p:sp>
      <p:sp>
        <p:nvSpPr>
          <p:cNvPr id="14" name="Text 11"/>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9AA3BD"/>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548640"/>
          </a:xfrm>
          <a:prstGeom prst="rect">
            <a:avLst/>
          </a:prstGeom>
          <a:noFill/>
          <a:ln/>
        </p:spPr>
        <p:txBody>
          <a:bodyPr wrap="square"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EDA — Transaction Amount Analysis</a:t>
            </a:r>
            <a:endParaRPr lang="en-US" sz="2800" dirty="0"/>
          </a:p>
        </p:txBody>
      </p:sp>
      <p:pic>
        <p:nvPicPr>
          <p:cNvPr id="3" name="Image 0" descr="assets/amount_dist.png">    </p:cNvPr>
          <p:cNvPicPr>
            <a:picLocks noChangeAspect="1"/>
          </p:cNvPicPr>
          <p:nvPr/>
        </p:nvPicPr>
        <p:blipFill>
          <a:blip r:embed="rId1"/>
          <a:stretch>
            <a:fillRect/>
          </a:stretch>
        </p:blipFill>
        <p:spPr>
          <a:xfrm>
            <a:off x="640080" y="1188720"/>
            <a:ext cx="10881360" cy="4251960"/>
          </a:xfrm>
          <a:prstGeom prst="rect">
            <a:avLst/>
          </a:prstGeom>
        </p:spPr>
      </p:pic>
      <p:sp>
        <p:nvSpPr>
          <p:cNvPr id="4" name="Shape 1"/>
          <p:cNvSpPr/>
          <p:nvPr/>
        </p:nvSpPr>
        <p:spPr>
          <a:xfrm>
            <a:off x="640080" y="5623560"/>
            <a:ext cx="10881360" cy="868680"/>
          </a:xfrm>
          <a:prstGeom prst="roundRect">
            <a:avLst>
              <a:gd name="adj" fmla="val 6316"/>
            </a:avLst>
          </a:prstGeom>
          <a:solidFill>
            <a:srgbClr val="121E38"/>
          </a:solidFill>
          <a:ln/>
        </p:spPr>
      </p:sp>
      <p:sp>
        <p:nvSpPr>
          <p:cNvPr id="5" name="Text 2"/>
          <p:cNvSpPr/>
          <p:nvPr/>
        </p:nvSpPr>
        <p:spPr>
          <a:xfrm>
            <a:off x="868680" y="5623560"/>
            <a:ext cx="10424160" cy="868680"/>
          </a:xfrm>
          <a:prstGeom prst="rect">
            <a:avLst/>
          </a:prstGeom>
          <a:noFill/>
          <a:ln/>
        </p:spPr>
        <p:txBody>
          <a:bodyPr wrap="square" rtlCol="0" anchor="ctr"/>
          <a:lstStyle/>
          <a:p>
            <a:pPr indent="0" marL="0">
              <a:lnSpc>
                <a:spcPct val="105000"/>
              </a:lnSpc>
              <a:buNone/>
            </a:pPr>
            <a:r>
              <a:rPr lang="en-US" sz="1050" b="1" dirty="0">
                <a:solidFill>
                  <a:srgbClr val="F76C5E"/>
                </a:solidFill>
                <a:latin typeface="Calibri" pitchFamily="34" charset="0"/>
                <a:ea typeface="Calibri" pitchFamily="34" charset="-122"/>
                <a:cs typeface="Calibri" pitchFamily="34" charset="-120"/>
              </a:rPr>
              <a:t>Takeaway:  </a:t>
            </a:r>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Amounts are heavily right-skewed — median ≈ $22, most transactions under $100, with a long tail of large purchases. Fraudulent transactions cluster at lower amounts, suggesting fraudsters test with small charges; Amount will need scaling before modeling.</a:t>
            </a:r>
            <a:endParaRPr lang="en-US" sz="1050" dirty="0"/>
          </a:p>
        </p:txBody>
      </p:sp>
      <p:sp>
        <p:nvSpPr>
          <p:cNvPr id="6" name="Text 3"/>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9AA3BD"/>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548640"/>
          </a:xfrm>
          <a:prstGeom prst="rect">
            <a:avLst/>
          </a:prstGeom>
          <a:noFill/>
          <a:ln/>
        </p:spPr>
        <p:txBody>
          <a:bodyPr wrap="square"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EDA — Transaction Time Analysis</a:t>
            </a:r>
            <a:endParaRPr lang="en-US" sz="2800" dirty="0"/>
          </a:p>
        </p:txBody>
      </p:sp>
      <p:pic>
        <p:nvPicPr>
          <p:cNvPr id="3" name="Image 0" descr="assets/time_dist.png">    </p:cNvPr>
          <p:cNvPicPr>
            <a:picLocks noChangeAspect="1"/>
          </p:cNvPicPr>
          <p:nvPr/>
        </p:nvPicPr>
        <p:blipFill>
          <a:blip r:embed="rId1"/>
          <a:stretch>
            <a:fillRect/>
          </a:stretch>
        </p:blipFill>
        <p:spPr>
          <a:xfrm>
            <a:off x="640080" y="1188720"/>
            <a:ext cx="10881360" cy="4251960"/>
          </a:xfrm>
          <a:prstGeom prst="rect">
            <a:avLst/>
          </a:prstGeom>
        </p:spPr>
      </p:pic>
      <p:sp>
        <p:nvSpPr>
          <p:cNvPr id="4" name="Shape 1"/>
          <p:cNvSpPr/>
          <p:nvPr/>
        </p:nvSpPr>
        <p:spPr>
          <a:xfrm>
            <a:off x="640080" y="5623560"/>
            <a:ext cx="10881360" cy="868680"/>
          </a:xfrm>
          <a:prstGeom prst="roundRect">
            <a:avLst>
              <a:gd name="adj" fmla="val 6316"/>
            </a:avLst>
          </a:prstGeom>
          <a:solidFill>
            <a:srgbClr val="121E38"/>
          </a:solidFill>
          <a:ln/>
        </p:spPr>
      </p:sp>
      <p:sp>
        <p:nvSpPr>
          <p:cNvPr id="5" name="Text 2"/>
          <p:cNvSpPr/>
          <p:nvPr/>
        </p:nvSpPr>
        <p:spPr>
          <a:xfrm>
            <a:off x="868680" y="5623560"/>
            <a:ext cx="10424160" cy="868680"/>
          </a:xfrm>
          <a:prstGeom prst="rect">
            <a:avLst/>
          </a:prstGeom>
          <a:noFill/>
          <a:ln/>
        </p:spPr>
        <p:txBody>
          <a:bodyPr wrap="square" rtlCol="0" anchor="ctr"/>
          <a:lstStyle/>
          <a:p>
            <a:pPr indent="0" marL="0">
              <a:lnSpc>
                <a:spcPct val="105000"/>
              </a:lnSpc>
              <a:buNone/>
            </a:pPr>
            <a:r>
              <a:rPr lang="en-US" sz="1050" b="1" dirty="0">
                <a:solidFill>
                  <a:srgbClr val="F76C5E"/>
                </a:solidFill>
                <a:latin typeface="Calibri" pitchFamily="34" charset="0"/>
                <a:ea typeface="Calibri" pitchFamily="34" charset="-122"/>
                <a:cs typeface="Calibri" pitchFamily="34" charset="-120"/>
              </a:rPr>
              <a:t>Takeaway:  </a:t>
            </a:r>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Transaction volume follows a clear day/night cycle across the two captured days, dipping overnight and peaking mid-day. Fraud shows a flatter, less cyclical pattern — fraudulent activity is not tied to normal daytime spending habits, making Time a useful engineered signal.</a:t>
            </a:r>
            <a:endParaRPr lang="en-US" sz="1050" dirty="0"/>
          </a:p>
        </p:txBody>
      </p:sp>
      <p:sp>
        <p:nvSpPr>
          <p:cNvPr id="6" name="Text 3"/>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9AA3BD"/>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548640"/>
          </a:xfrm>
          <a:prstGeom prst="rect">
            <a:avLst/>
          </a:prstGeom>
          <a:noFill/>
          <a:ln/>
        </p:spPr>
        <p:txBody>
          <a:bodyPr wrap="square"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EDA — Correlation Heatmap</a:t>
            </a:r>
            <a:endParaRPr lang="en-US" sz="2800" dirty="0"/>
          </a:p>
        </p:txBody>
      </p:sp>
      <p:pic>
        <p:nvPicPr>
          <p:cNvPr id="3" name="Image 0" descr="assets/corr_heatmap.png">    </p:cNvPr>
          <p:cNvPicPr>
            <a:picLocks noChangeAspect="1"/>
          </p:cNvPicPr>
          <p:nvPr/>
        </p:nvPicPr>
        <p:blipFill>
          <a:blip r:embed="rId1"/>
          <a:stretch>
            <a:fillRect/>
          </a:stretch>
        </p:blipFill>
        <p:spPr>
          <a:xfrm>
            <a:off x="548640" y="1097280"/>
            <a:ext cx="6675120" cy="5349240"/>
          </a:xfrm>
          <a:prstGeom prst="rect">
            <a:avLst/>
          </a:prstGeom>
        </p:spPr>
      </p:pic>
      <p:sp>
        <p:nvSpPr>
          <p:cNvPr id="4" name="Text 1"/>
          <p:cNvSpPr/>
          <p:nvPr/>
        </p:nvSpPr>
        <p:spPr>
          <a:xfrm>
            <a:off x="7452360" y="1188720"/>
            <a:ext cx="4114800" cy="365760"/>
          </a:xfrm>
          <a:prstGeom prst="rect">
            <a:avLst/>
          </a:prstGeom>
          <a:noFill/>
          <a:ln/>
        </p:spPr>
        <p:txBody>
          <a:bodyPr wrap="square"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What it shows</a:t>
            </a:r>
            <a:endParaRPr lang="en-US" sz="1600" dirty="0"/>
          </a:p>
        </p:txBody>
      </p:sp>
      <p:sp>
        <p:nvSpPr>
          <p:cNvPr id="5" name="Shape 2"/>
          <p:cNvSpPr/>
          <p:nvPr/>
        </p:nvSpPr>
        <p:spPr>
          <a:xfrm>
            <a:off x="7452360" y="1764792"/>
            <a:ext cx="82296" cy="82296"/>
          </a:xfrm>
          <a:prstGeom prst="ellipse">
            <a:avLst/>
          </a:prstGeom>
          <a:solidFill>
            <a:srgbClr val="F2B134"/>
          </a:solidFill>
          <a:ln/>
        </p:spPr>
      </p:sp>
      <p:sp>
        <p:nvSpPr>
          <p:cNvPr id="6" name="Text 3"/>
          <p:cNvSpPr/>
          <p:nvPr/>
        </p:nvSpPr>
        <p:spPr>
          <a:xfrm>
            <a:off x="7680960" y="1645920"/>
            <a:ext cx="3886200" cy="868680"/>
          </a:xfrm>
          <a:prstGeom prst="rect">
            <a:avLst/>
          </a:prstGeom>
          <a:noFill/>
          <a:ln/>
        </p:spPr>
        <p:txBody>
          <a:bodyPr wrap="square" rtlCol="0" anchor="ctr"/>
          <a:lstStyle/>
          <a:p>
            <a:pPr indent="0" marL="0">
              <a:lnSpc>
                <a:spcPct val="108000"/>
              </a:lnSpc>
              <a:buNone/>
            </a:pPr>
            <a:r>
              <a:rPr lang="en-US" sz="1050" dirty="0">
                <a:solidFill>
                  <a:srgbClr val="44506B"/>
                </a:solidFill>
                <a:latin typeface="Calibri" pitchFamily="34" charset="0"/>
                <a:ea typeface="Calibri" pitchFamily="34" charset="-122"/>
                <a:cs typeface="Calibri" pitchFamily="34" charset="-120"/>
              </a:rPr>
              <a:t>Most V1–V28 features are weakly correlated with each other — expected, since PCA components are designed to be near-orthogonal.</a:t>
            </a:r>
            <a:endParaRPr lang="en-US" sz="1050" dirty="0"/>
          </a:p>
        </p:txBody>
      </p:sp>
      <p:sp>
        <p:nvSpPr>
          <p:cNvPr id="7" name="Shape 4"/>
          <p:cNvSpPr/>
          <p:nvPr/>
        </p:nvSpPr>
        <p:spPr>
          <a:xfrm>
            <a:off x="7452360" y="2724912"/>
            <a:ext cx="82296" cy="82296"/>
          </a:xfrm>
          <a:prstGeom prst="ellipse">
            <a:avLst/>
          </a:prstGeom>
          <a:solidFill>
            <a:srgbClr val="F2B134"/>
          </a:solidFill>
          <a:ln/>
        </p:spPr>
      </p:sp>
      <p:sp>
        <p:nvSpPr>
          <p:cNvPr id="8" name="Text 5"/>
          <p:cNvSpPr/>
          <p:nvPr/>
        </p:nvSpPr>
        <p:spPr>
          <a:xfrm>
            <a:off x="7680960" y="2606040"/>
            <a:ext cx="3886200" cy="868680"/>
          </a:xfrm>
          <a:prstGeom prst="rect">
            <a:avLst/>
          </a:prstGeom>
          <a:noFill/>
          <a:ln/>
        </p:spPr>
        <p:txBody>
          <a:bodyPr wrap="square" rtlCol="0" anchor="ctr"/>
          <a:lstStyle/>
          <a:p>
            <a:pPr indent="0" marL="0">
              <a:lnSpc>
                <a:spcPct val="108000"/>
              </a:lnSpc>
              <a:buNone/>
            </a:pPr>
            <a:r>
              <a:rPr lang="en-US" sz="1050" dirty="0">
                <a:solidFill>
                  <a:srgbClr val="44506B"/>
                </a:solidFill>
                <a:latin typeface="Calibri" pitchFamily="34" charset="0"/>
                <a:ea typeface="Calibri" pitchFamily="34" charset="-122"/>
                <a:cs typeface="Calibri" pitchFamily="34" charset="-120"/>
              </a:rPr>
              <a:t>V17, V14, V12 and V10 show the strongest (negative) correlation with Class — the most informative features for separating fraud from genuine transactions.</a:t>
            </a:r>
            <a:endParaRPr lang="en-US" sz="1050" dirty="0"/>
          </a:p>
        </p:txBody>
      </p:sp>
      <p:sp>
        <p:nvSpPr>
          <p:cNvPr id="9" name="Shape 6"/>
          <p:cNvSpPr/>
          <p:nvPr/>
        </p:nvSpPr>
        <p:spPr>
          <a:xfrm>
            <a:off x="7452360" y="3685032"/>
            <a:ext cx="82296" cy="82296"/>
          </a:xfrm>
          <a:prstGeom prst="ellipse">
            <a:avLst/>
          </a:prstGeom>
          <a:solidFill>
            <a:srgbClr val="F2B134"/>
          </a:solidFill>
          <a:ln/>
        </p:spPr>
      </p:sp>
      <p:sp>
        <p:nvSpPr>
          <p:cNvPr id="10" name="Text 7"/>
          <p:cNvSpPr/>
          <p:nvPr/>
        </p:nvSpPr>
        <p:spPr>
          <a:xfrm>
            <a:off x="7680960" y="3566160"/>
            <a:ext cx="3886200" cy="868680"/>
          </a:xfrm>
          <a:prstGeom prst="rect">
            <a:avLst/>
          </a:prstGeom>
          <a:noFill/>
          <a:ln/>
        </p:spPr>
        <p:txBody>
          <a:bodyPr wrap="square" rtlCol="0" anchor="ctr"/>
          <a:lstStyle/>
          <a:p>
            <a:pPr indent="0" marL="0">
              <a:lnSpc>
                <a:spcPct val="108000"/>
              </a:lnSpc>
              <a:buNone/>
            </a:pPr>
            <a:r>
              <a:rPr lang="en-US" sz="1050" dirty="0">
                <a:solidFill>
                  <a:srgbClr val="44506B"/>
                </a:solidFill>
                <a:latin typeface="Calibri" pitchFamily="34" charset="0"/>
                <a:ea typeface="Calibri" pitchFamily="34" charset="-122"/>
                <a:cs typeface="Calibri" pitchFamily="34" charset="-120"/>
              </a:rPr>
              <a:t>No single raw feature is strongly predictive alone, reinforcing the case for a model that combines multiple weak signals.</a:t>
            </a:r>
            <a:endParaRPr lang="en-US" sz="1050" dirty="0"/>
          </a:p>
        </p:txBody>
      </p:sp>
      <p:sp>
        <p:nvSpPr>
          <p:cNvPr id="11" name="Shape 8"/>
          <p:cNvSpPr/>
          <p:nvPr/>
        </p:nvSpPr>
        <p:spPr>
          <a:xfrm>
            <a:off x="7452360" y="4754880"/>
            <a:ext cx="4114800" cy="1600200"/>
          </a:xfrm>
          <a:prstGeom prst="roundRect">
            <a:avLst>
              <a:gd name="adj" fmla="val 3429"/>
            </a:avLst>
          </a:prstGeom>
          <a:solidFill>
            <a:srgbClr val="121E38"/>
          </a:solidFill>
          <a:ln/>
        </p:spPr>
      </p:sp>
      <p:sp>
        <p:nvSpPr>
          <p:cNvPr id="12" name="Text 9"/>
          <p:cNvSpPr/>
          <p:nvPr/>
        </p:nvSpPr>
        <p:spPr>
          <a:xfrm>
            <a:off x="7680960" y="4892040"/>
            <a:ext cx="3657600" cy="1371600"/>
          </a:xfrm>
          <a:prstGeom prst="rect">
            <a:avLst/>
          </a:prstGeom>
          <a:noFill/>
          <a:ln/>
        </p:spPr>
        <p:txBody>
          <a:bodyPr wrap="square" rtlCol="0" anchor="t"/>
          <a:lstStyle/>
          <a:p>
            <a:pPr indent="0" marL="0">
              <a:lnSpc>
                <a:spcPct val="108000"/>
              </a:lnSpc>
              <a:buNone/>
            </a:pPr>
            <a:r>
              <a:rPr lang="en-US" sz="1050" b="1" dirty="0">
                <a:solidFill>
                  <a:srgbClr val="F76C5E"/>
                </a:solidFill>
                <a:latin typeface="Calibri" pitchFamily="34" charset="0"/>
                <a:ea typeface="Calibri" pitchFamily="34" charset="-122"/>
                <a:cs typeface="Calibri" pitchFamily="34" charset="-120"/>
              </a:rPr>
              <a:t>Implication:
</a:t>
            </a:r>
            <a:endParaRPr lang="en-US" sz="1050" dirty="0"/>
          </a:p>
          <a:p>
            <a:pPr indent="0" marL="0">
              <a:lnSpc>
                <a:spcPct val="108000"/>
              </a:lnSpc>
              <a:buNone/>
            </a:pPr>
            <a:r>
              <a:rPr lang="en-US" sz="1050" dirty="0">
                <a:solidFill>
                  <a:srgbClr val="FFFFFF"/>
                </a:solidFill>
                <a:latin typeface="Calibri" pitchFamily="34" charset="0"/>
                <a:ea typeface="Calibri" pitchFamily="34" charset="-122"/>
                <a:cs typeface="Calibri" pitchFamily="34" charset="-120"/>
              </a:rPr>
              <a:t>Predictive power will come mainly from the strongest correlated features plus the anomaly signal from Isolation Forest — not from any one raw column alone.</a:t>
            </a:r>
            <a:endParaRPr lang="en-US" sz="1050" dirty="0"/>
          </a:p>
        </p:txBody>
      </p:sp>
      <p:sp>
        <p:nvSpPr>
          <p:cNvPr id="13" name="Text 10"/>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9AA3BD"/>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548640"/>
          </a:xfrm>
          <a:prstGeom prst="rect">
            <a:avLst/>
          </a:prstGeom>
          <a:noFill/>
          <a:ln/>
        </p:spPr>
        <p:txBody>
          <a:bodyPr wrap="square"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Methodology (Planned)</a:t>
            </a:r>
            <a:endParaRPr lang="en-US" sz="3000" dirty="0"/>
          </a:p>
        </p:txBody>
      </p:sp>
      <p:sp>
        <p:nvSpPr>
          <p:cNvPr id="3" name="Shape 1"/>
          <p:cNvSpPr/>
          <p:nvPr/>
        </p:nvSpPr>
        <p:spPr>
          <a:xfrm>
            <a:off x="1362456" y="1463040"/>
            <a:ext cx="512064" cy="512064"/>
          </a:xfrm>
          <a:prstGeom prst="ellipse">
            <a:avLst/>
          </a:prstGeom>
          <a:solidFill>
            <a:srgbClr val="1B2A4A"/>
          </a:solidFill>
          <a:ln/>
        </p:spPr>
      </p:sp>
      <p:sp>
        <p:nvSpPr>
          <p:cNvPr id="4" name="Text 2"/>
          <p:cNvSpPr/>
          <p:nvPr/>
        </p:nvSpPr>
        <p:spPr>
          <a:xfrm>
            <a:off x="1362456" y="1463040"/>
            <a:ext cx="512064" cy="512064"/>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Shape 3"/>
          <p:cNvSpPr/>
          <p:nvPr/>
        </p:nvSpPr>
        <p:spPr>
          <a:xfrm>
            <a:off x="640080" y="2240280"/>
            <a:ext cx="1956816" cy="2651760"/>
          </a:xfrm>
          <a:prstGeom prst="roundRect">
            <a:avLst>
              <a:gd name="adj" fmla="val 2804"/>
            </a:avLst>
          </a:prstGeom>
          <a:solidFill>
            <a:srgbClr val="F7F7F5"/>
          </a:solidFill>
          <a:ln w="12700">
            <a:solidFill>
              <a:srgbClr val="E3E6EF"/>
            </a:solidFill>
            <a:prstDash val="solid"/>
          </a:ln>
        </p:spPr>
      </p:sp>
      <p:sp>
        <p:nvSpPr>
          <p:cNvPr id="6" name="Text 4"/>
          <p:cNvSpPr/>
          <p:nvPr/>
        </p:nvSpPr>
        <p:spPr>
          <a:xfrm>
            <a:off x="749808" y="2377440"/>
            <a:ext cx="1737360" cy="502920"/>
          </a:xfrm>
          <a:prstGeom prst="rect">
            <a:avLst/>
          </a:prstGeom>
          <a:noFill/>
          <a:ln/>
        </p:spPr>
        <p:txBody>
          <a:bodyPr wrap="square" rtlCol="0" anchor="ctr"/>
          <a:lstStyle/>
          <a:p>
            <a:pPr algn="l" indent="0" marL="0">
              <a:buNone/>
            </a:pPr>
            <a:r>
              <a:rPr lang="en-US" sz="1200" b="1" dirty="0">
                <a:solidFill>
                  <a:srgbClr val="1B2A4A"/>
                </a:solidFill>
                <a:latin typeface="Calibri" pitchFamily="34" charset="0"/>
                <a:ea typeface="Calibri" pitchFamily="34" charset="-122"/>
                <a:cs typeface="Calibri" pitchFamily="34" charset="-120"/>
              </a:rPr>
              <a:t>Preprocessing</a:t>
            </a:r>
            <a:endParaRPr lang="en-US" sz="1200" dirty="0"/>
          </a:p>
        </p:txBody>
      </p:sp>
      <p:sp>
        <p:nvSpPr>
          <p:cNvPr id="7" name="Text 5"/>
          <p:cNvSpPr/>
          <p:nvPr/>
        </p:nvSpPr>
        <p:spPr>
          <a:xfrm>
            <a:off x="749808" y="2880360"/>
            <a:ext cx="1737360" cy="1874520"/>
          </a:xfrm>
          <a:prstGeom prst="rect">
            <a:avLst/>
          </a:prstGeom>
          <a:noFill/>
          <a:ln/>
        </p:spPr>
        <p:txBody>
          <a:bodyPr wrap="square" rtlCol="0" anchor="ctr"/>
          <a:lstStyle/>
          <a:p>
            <a:pPr algn="l" indent="0" marL="0">
              <a:lnSpc>
                <a:spcPct val="108000"/>
              </a:lnSpc>
              <a:buNone/>
            </a:pPr>
            <a:r>
              <a:rPr lang="en-US" sz="950" dirty="0">
                <a:solidFill>
                  <a:srgbClr val="44506B"/>
                </a:solidFill>
                <a:latin typeface="Calibri" pitchFamily="34" charset="0"/>
                <a:ea typeface="Calibri" pitchFamily="34" charset="-122"/>
                <a:cs typeface="Calibri" pitchFamily="34" charset="-120"/>
              </a:rPr>
              <a:t>Scale Time &amp; Amount, confirm no nulls, encode target</a:t>
            </a:r>
            <a:endParaRPr lang="en-US" sz="950" dirty="0"/>
          </a:p>
        </p:txBody>
      </p:sp>
      <p:sp>
        <p:nvSpPr>
          <p:cNvPr id="8" name="Text 6"/>
          <p:cNvSpPr/>
          <p:nvPr/>
        </p:nvSpPr>
        <p:spPr>
          <a:xfrm>
            <a:off x="2596896" y="3337560"/>
            <a:ext cx="274320" cy="457200"/>
          </a:xfrm>
          <a:prstGeom prst="rect">
            <a:avLst/>
          </a:prstGeom>
          <a:noFill/>
          <a:ln/>
        </p:spPr>
        <p:txBody>
          <a:bodyPr wrap="square" rtlCol="0" anchor="ctr"/>
          <a:lstStyle/>
          <a:p>
            <a:pPr algn="ctr" indent="0" marL="0">
              <a:buNone/>
            </a:pPr>
            <a:r>
              <a:rPr lang="en-US" sz="1600" dirty="0">
                <a:solidFill>
                  <a:srgbClr val="9AA3BD"/>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3593592" y="1463040"/>
            <a:ext cx="512064" cy="512064"/>
          </a:xfrm>
          <a:prstGeom prst="ellipse">
            <a:avLst/>
          </a:prstGeom>
          <a:solidFill>
            <a:srgbClr val="1B2A4A"/>
          </a:solidFill>
          <a:ln/>
        </p:spPr>
      </p:sp>
      <p:sp>
        <p:nvSpPr>
          <p:cNvPr id="10" name="Text 8"/>
          <p:cNvSpPr/>
          <p:nvPr/>
        </p:nvSpPr>
        <p:spPr>
          <a:xfrm>
            <a:off x="3593592" y="1463040"/>
            <a:ext cx="512064" cy="512064"/>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Shape 9"/>
          <p:cNvSpPr/>
          <p:nvPr/>
        </p:nvSpPr>
        <p:spPr>
          <a:xfrm>
            <a:off x="2871216" y="2240280"/>
            <a:ext cx="1956816" cy="2651760"/>
          </a:xfrm>
          <a:prstGeom prst="roundRect">
            <a:avLst>
              <a:gd name="adj" fmla="val 2804"/>
            </a:avLst>
          </a:prstGeom>
          <a:solidFill>
            <a:srgbClr val="F7F7F5"/>
          </a:solidFill>
          <a:ln w="12700">
            <a:solidFill>
              <a:srgbClr val="E3E6EF"/>
            </a:solidFill>
            <a:prstDash val="solid"/>
          </a:ln>
        </p:spPr>
      </p:sp>
      <p:sp>
        <p:nvSpPr>
          <p:cNvPr id="12" name="Text 10"/>
          <p:cNvSpPr/>
          <p:nvPr/>
        </p:nvSpPr>
        <p:spPr>
          <a:xfrm>
            <a:off x="2980944" y="2377440"/>
            <a:ext cx="1737360" cy="502920"/>
          </a:xfrm>
          <a:prstGeom prst="rect">
            <a:avLst/>
          </a:prstGeom>
          <a:noFill/>
          <a:ln/>
        </p:spPr>
        <p:txBody>
          <a:bodyPr wrap="square" rtlCol="0" anchor="ctr"/>
          <a:lstStyle/>
          <a:p>
            <a:pPr algn="l" indent="0" marL="0">
              <a:buNone/>
            </a:pPr>
            <a:r>
              <a:rPr lang="en-US" sz="1200" b="1" dirty="0">
                <a:solidFill>
                  <a:srgbClr val="1B2A4A"/>
                </a:solidFill>
                <a:latin typeface="Calibri" pitchFamily="34" charset="0"/>
                <a:ea typeface="Calibri" pitchFamily="34" charset="-122"/>
                <a:cs typeface="Calibri" pitchFamily="34" charset="-120"/>
              </a:rPr>
              <a:t>Imbalance Handling</a:t>
            </a:r>
            <a:endParaRPr lang="en-US" sz="1200" dirty="0"/>
          </a:p>
        </p:txBody>
      </p:sp>
      <p:sp>
        <p:nvSpPr>
          <p:cNvPr id="13" name="Text 11"/>
          <p:cNvSpPr/>
          <p:nvPr/>
        </p:nvSpPr>
        <p:spPr>
          <a:xfrm>
            <a:off x="2980944" y="2880360"/>
            <a:ext cx="1737360" cy="1874520"/>
          </a:xfrm>
          <a:prstGeom prst="rect">
            <a:avLst/>
          </a:prstGeom>
          <a:noFill/>
          <a:ln/>
        </p:spPr>
        <p:txBody>
          <a:bodyPr wrap="square" rtlCol="0" anchor="ctr"/>
          <a:lstStyle/>
          <a:p>
            <a:pPr algn="l" indent="0" marL="0">
              <a:lnSpc>
                <a:spcPct val="108000"/>
              </a:lnSpc>
              <a:buNone/>
            </a:pPr>
            <a:r>
              <a:rPr lang="en-US" sz="950" dirty="0">
                <a:solidFill>
                  <a:srgbClr val="44506B"/>
                </a:solidFill>
                <a:latin typeface="Calibri" pitchFamily="34" charset="0"/>
                <a:ea typeface="Calibri" pitchFamily="34" charset="-122"/>
                <a:cs typeface="Calibri" pitchFamily="34" charset="-120"/>
              </a:rPr>
              <a:t>SMOTE / class-weighting for the 0.17% fraud rate</a:t>
            </a:r>
            <a:endParaRPr lang="en-US" sz="950" dirty="0"/>
          </a:p>
        </p:txBody>
      </p:sp>
      <p:sp>
        <p:nvSpPr>
          <p:cNvPr id="14" name="Text 12"/>
          <p:cNvSpPr/>
          <p:nvPr/>
        </p:nvSpPr>
        <p:spPr>
          <a:xfrm>
            <a:off x="4828032" y="3337560"/>
            <a:ext cx="274320" cy="457200"/>
          </a:xfrm>
          <a:prstGeom prst="rect">
            <a:avLst/>
          </a:prstGeom>
          <a:noFill/>
          <a:ln/>
        </p:spPr>
        <p:txBody>
          <a:bodyPr wrap="square" rtlCol="0" anchor="ctr"/>
          <a:lstStyle/>
          <a:p>
            <a:pPr algn="ctr" indent="0" marL="0">
              <a:buNone/>
            </a:pPr>
            <a:r>
              <a:rPr lang="en-US" sz="1600" dirty="0">
                <a:solidFill>
                  <a:srgbClr val="9AA3BD"/>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5824728" y="1463040"/>
            <a:ext cx="512064" cy="512064"/>
          </a:xfrm>
          <a:prstGeom prst="ellipse">
            <a:avLst/>
          </a:prstGeom>
          <a:solidFill>
            <a:srgbClr val="1B2A4A"/>
          </a:solidFill>
          <a:ln/>
        </p:spPr>
      </p:sp>
      <p:sp>
        <p:nvSpPr>
          <p:cNvPr id="16" name="Text 14"/>
          <p:cNvSpPr/>
          <p:nvPr/>
        </p:nvSpPr>
        <p:spPr>
          <a:xfrm>
            <a:off x="5824728" y="1463040"/>
            <a:ext cx="512064" cy="512064"/>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Shape 15"/>
          <p:cNvSpPr/>
          <p:nvPr/>
        </p:nvSpPr>
        <p:spPr>
          <a:xfrm>
            <a:off x="5102352" y="2240280"/>
            <a:ext cx="1956816" cy="2651760"/>
          </a:xfrm>
          <a:prstGeom prst="roundRect">
            <a:avLst>
              <a:gd name="adj" fmla="val 2804"/>
            </a:avLst>
          </a:prstGeom>
          <a:solidFill>
            <a:srgbClr val="F7F7F5"/>
          </a:solidFill>
          <a:ln w="12700">
            <a:solidFill>
              <a:srgbClr val="E3E6EF"/>
            </a:solidFill>
            <a:prstDash val="solid"/>
          </a:ln>
        </p:spPr>
      </p:sp>
      <p:sp>
        <p:nvSpPr>
          <p:cNvPr id="18" name="Text 16"/>
          <p:cNvSpPr/>
          <p:nvPr/>
        </p:nvSpPr>
        <p:spPr>
          <a:xfrm>
            <a:off x="5212080" y="2377440"/>
            <a:ext cx="1737360" cy="502920"/>
          </a:xfrm>
          <a:prstGeom prst="rect">
            <a:avLst/>
          </a:prstGeom>
          <a:noFill/>
          <a:ln/>
        </p:spPr>
        <p:txBody>
          <a:bodyPr wrap="square" rtlCol="0" anchor="ctr"/>
          <a:lstStyle/>
          <a:p>
            <a:pPr algn="l" indent="0" marL="0">
              <a:buNone/>
            </a:pPr>
            <a:r>
              <a:rPr lang="en-US" sz="1200" b="1" dirty="0">
                <a:solidFill>
                  <a:srgbClr val="1B2A4A"/>
                </a:solidFill>
                <a:latin typeface="Calibri" pitchFamily="34" charset="0"/>
                <a:ea typeface="Calibri" pitchFamily="34" charset="-122"/>
                <a:cs typeface="Calibri" pitchFamily="34" charset="-120"/>
              </a:rPr>
              <a:t>Train/Test Split</a:t>
            </a:r>
            <a:endParaRPr lang="en-US" sz="1200" dirty="0"/>
          </a:p>
        </p:txBody>
      </p:sp>
      <p:sp>
        <p:nvSpPr>
          <p:cNvPr id="19" name="Text 17"/>
          <p:cNvSpPr/>
          <p:nvPr/>
        </p:nvSpPr>
        <p:spPr>
          <a:xfrm>
            <a:off x="5212080" y="2880360"/>
            <a:ext cx="1737360" cy="1874520"/>
          </a:xfrm>
          <a:prstGeom prst="rect">
            <a:avLst/>
          </a:prstGeom>
          <a:noFill/>
          <a:ln/>
        </p:spPr>
        <p:txBody>
          <a:bodyPr wrap="square" rtlCol="0" anchor="ctr"/>
          <a:lstStyle/>
          <a:p>
            <a:pPr algn="l" indent="0" marL="0">
              <a:lnSpc>
                <a:spcPct val="108000"/>
              </a:lnSpc>
              <a:buNone/>
            </a:pPr>
            <a:r>
              <a:rPr lang="en-US" sz="950" dirty="0">
                <a:solidFill>
                  <a:srgbClr val="44506B"/>
                </a:solidFill>
                <a:latin typeface="Calibri" pitchFamily="34" charset="0"/>
                <a:ea typeface="Calibri" pitchFamily="34" charset="-122"/>
                <a:cs typeface="Calibri" pitchFamily="34" charset="-120"/>
              </a:rPr>
              <a:t>Stratified split to preserve the fraud ratio</a:t>
            </a:r>
            <a:endParaRPr lang="en-US" sz="950" dirty="0"/>
          </a:p>
        </p:txBody>
      </p:sp>
      <p:sp>
        <p:nvSpPr>
          <p:cNvPr id="20" name="Text 18"/>
          <p:cNvSpPr/>
          <p:nvPr/>
        </p:nvSpPr>
        <p:spPr>
          <a:xfrm>
            <a:off x="7059168" y="3337560"/>
            <a:ext cx="274320" cy="457200"/>
          </a:xfrm>
          <a:prstGeom prst="rect">
            <a:avLst/>
          </a:prstGeom>
          <a:noFill/>
          <a:ln/>
        </p:spPr>
        <p:txBody>
          <a:bodyPr wrap="square" rtlCol="0" anchor="ctr"/>
          <a:lstStyle/>
          <a:p>
            <a:pPr algn="ctr" indent="0" marL="0">
              <a:buNone/>
            </a:pPr>
            <a:r>
              <a:rPr lang="en-US" sz="1600" dirty="0">
                <a:solidFill>
                  <a:srgbClr val="9AA3BD"/>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8055864" y="1463040"/>
            <a:ext cx="512064" cy="512064"/>
          </a:xfrm>
          <a:prstGeom prst="ellipse">
            <a:avLst/>
          </a:prstGeom>
          <a:solidFill>
            <a:srgbClr val="F76C5E"/>
          </a:solidFill>
          <a:ln/>
        </p:spPr>
      </p:sp>
      <p:sp>
        <p:nvSpPr>
          <p:cNvPr id="22" name="Text 20"/>
          <p:cNvSpPr/>
          <p:nvPr/>
        </p:nvSpPr>
        <p:spPr>
          <a:xfrm>
            <a:off x="8055864" y="1463040"/>
            <a:ext cx="512064" cy="512064"/>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3" name="Shape 21"/>
          <p:cNvSpPr/>
          <p:nvPr/>
        </p:nvSpPr>
        <p:spPr>
          <a:xfrm>
            <a:off x="7333488" y="2240280"/>
            <a:ext cx="1956816" cy="2651760"/>
          </a:xfrm>
          <a:prstGeom prst="roundRect">
            <a:avLst>
              <a:gd name="adj" fmla="val 2804"/>
            </a:avLst>
          </a:prstGeom>
          <a:solidFill>
            <a:srgbClr val="F7F7F5"/>
          </a:solidFill>
          <a:ln w="12700">
            <a:solidFill>
              <a:srgbClr val="E3E6EF"/>
            </a:solidFill>
            <a:prstDash val="solid"/>
          </a:ln>
        </p:spPr>
      </p:sp>
      <p:sp>
        <p:nvSpPr>
          <p:cNvPr id="24" name="Text 22"/>
          <p:cNvSpPr/>
          <p:nvPr/>
        </p:nvSpPr>
        <p:spPr>
          <a:xfrm>
            <a:off x="7443216" y="2377440"/>
            <a:ext cx="1737360" cy="502920"/>
          </a:xfrm>
          <a:prstGeom prst="rect">
            <a:avLst/>
          </a:prstGeom>
          <a:noFill/>
          <a:ln/>
        </p:spPr>
        <p:txBody>
          <a:bodyPr wrap="square" rtlCol="0" anchor="ctr"/>
          <a:lstStyle/>
          <a:p>
            <a:pPr algn="l" indent="0" marL="0">
              <a:buNone/>
            </a:pPr>
            <a:r>
              <a:rPr lang="en-US" sz="1200" b="1" dirty="0">
                <a:solidFill>
                  <a:srgbClr val="1B2A4A"/>
                </a:solidFill>
                <a:latin typeface="Calibri" pitchFamily="34" charset="0"/>
                <a:ea typeface="Calibri" pitchFamily="34" charset="-122"/>
                <a:cs typeface="Calibri" pitchFamily="34" charset="-120"/>
              </a:rPr>
              <a:t>Model Training</a:t>
            </a:r>
            <a:endParaRPr lang="en-US" sz="1200" dirty="0"/>
          </a:p>
        </p:txBody>
      </p:sp>
      <p:sp>
        <p:nvSpPr>
          <p:cNvPr id="25" name="Text 23"/>
          <p:cNvSpPr/>
          <p:nvPr/>
        </p:nvSpPr>
        <p:spPr>
          <a:xfrm>
            <a:off x="7443216" y="2880360"/>
            <a:ext cx="1737360" cy="1874520"/>
          </a:xfrm>
          <a:prstGeom prst="rect">
            <a:avLst/>
          </a:prstGeom>
          <a:noFill/>
          <a:ln/>
        </p:spPr>
        <p:txBody>
          <a:bodyPr wrap="square" rtlCol="0" anchor="ctr"/>
          <a:lstStyle/>
          <a:p>
            <a:pPr algn="l" indent="0" marL="0">
              <a:lnSpc>
                <a:spcPct val="108000"/>
              </a:lnSpc>
              <a:buNone/>
            </a:pPr>
            <a:r>
              <a:rPr lang="en-US" sz="950" dirty="0">
                <a:solidFill>
                  <a:srgbClr val="44506B"/>
                </a:solidFill>
                <a:latin typeface="Calibri" pitchFamily="34" charset="0"/>
                <a:ea typeface="Calibri" pitchFamily="34" charset="-122"/>
                <a:cs typeface="Calibri" pitchFamily="34" charset="-120"/>
              </a:rPr>
              <a:t>Logistic Regression (supervised) + Isolation Forest (unsupervised)</a:t>
            </a:r>
            <a:endParaRPr lang="en-US" sz="950" dirty="0"/>
          </a:p>
        </p:txBody>
      </p:sp>
      <p:sp>
        <p:nvSpPr>
          <p:cNvPr id="26" name="Text 24"/>
          <p:cNvSpPr/>
          <p:nvPr/>
        </p:nvSpPr>
        <p:spPr>
          <a:xfrm>
            <a:off x="9290304" y="3337560"/>
            <a:ext cx="274320" cy="457200"/>
          </a:xfrm>
          <a:prstGeom prst="rect">
            <a:avLst/>
          </a:prstGeom>
          <a:noFill/>
          <a:ln/>
        </p:spPr>
        <p:txBody>
          <a:bodyPr wrap="square" rtlCol="0" anchor="ctr"/>
          <a:lstStyle/>
          <a:p>
            <a:pPr algn="ctr" indent="0" marL="0">
              <a:buNone/>
            </a:pPr>
            <a:r>
              <a:rPr lang="en-US" sz="1600" dirty="0">
                <a:solidFill>
                  <a:srgbClr val="9AA3BD"/>
                </a:solidFill>
                <a:latin typeface="Calibri" pitchFamily="34" charset="0"/>
                <a:ea typeface="Calibri" pitchFamily="34" charset="-122"/>
                <a:cs typeface="Calibri" pitchFamily="34" charset="-120"/>
              </a:rPr>
              <a:t>→</a:t>
            </a:r>
            <a:endParaRPr lang="en-US" sz="1600" dirty="0"/>
          </a:p>
        </p:txBody>
      </p:sp>
      <p:sp>
        <p:nvSpPr>
          <p:cNvPr id="27" name="Shape 25"/>
          <p:cNvSpPr/>
          <p:nvPr/>
        </p:nvSpPr>
        <p:spPr>
          <a:xfrm>
            <a:off x="10287000" y="1463040"/>
            <a:ext cx="512064" cy="512064"/>
          </a:xfrm>
          <a:prstGeom prst="ellipse">
            <a:avLst/>
          </a:prstGeom>
          <a:solidFill>
            <a:srgbClr val="1B2A4A"/>
          </a:solidFill>
          <a:ln/>
        </p:spPr>
      </p:sp>
      <p:sp>
        <p:nvSpPr>
          <p:cNvPr id="28" name="Text 26"/>
          <p:cNvSpPr/>
          <p:nvPr/>
        </p:nvSpPr>
        <p:spPr>
          <a:xfrm>
            <a:off x="10287000" y="1463040"/>
            <a:ext cx="512064" cy="512064"/>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9" name="Shape 27"/>
          <p:cNvSpPr/>
          <p:nvPr/>
        </p:nvSpPr>
        <p:spPr>
          <a:xfrm>
            <a:off x="9564624" y="2240280"/>
            <a:ext cx="1956816" cy="2651760"/>
          </a:xfrm>
          <a:prstGeom prst="roundRect">
            <a:avLst>
              <a:gd name="adj" fmla="val 2804"/>
            </a:avLst>
          </a:prstGeom>
          <a:solidFill>
            <a:srgbClr val="F7F7F5"/>
          </a:solidFill>
          <a:ln w="12700">
            <a:solidFill>
              <a:srgbClr val="E3E6EF"/>
            </a:solidFill>
            <a:prstDash val="solid"/>
          </a:ln>
        </p:spPr>
      </p:sp>
      <p:sp>
        <p:nvSpPr>
          <p:cNvPr id="30" name="Text 28"/>
          <p:cNvSpPr/>
          <p:nvPr/>
        </p:nvSpPr>
        <p:spPr>
          <a:xfrm>
            <a:off x="9674352" y="2377440"/>
            <a:ext cx="1737360" cy="502920"/>
          </a:xfrm>
          <a:prstGeom prst="rect">
            <a:avLst/>
          </a:prstGeom>
          <a:noFill/>
          <a:ln/>
        </p:spPr>
        <p:txBody>
          <a:bodyPr wrap="square" rtlCol="0" anchor="ctr"/>
          <a:lstStyle/>
          <a:p>
            <a:pPr algn="l" indent="0" marL="0">
              <a:buNone/>
            </a:pPr>
            <a:r>
              <a:rPr lang="en-US" sz="1200" b="1" dirty="0">
                <a:solidFill>
                  <a:srgbClr val="1B2A4A"/>
                </a:solidFill>
                <a:latin typeface="Calibri" pitchFamily="34" charset="0"/>
                <a:ea typeface="Calibri" pitchFamily="34" charset="-122"/>
                <a:cs typeface="Calibri" pitchFamily="34" charset="-120"/>
              </a:rPr>
              <a:t>Evaluation</a:t>
            </a:r>
            <a:endParaRPr lang="en-US" sz="1200" dirty="0"/>
          </a:p>
        </p:txBody>
      </p:sp>
      <p:sp>
        <p:nvSpPr>
          <p:cNvPr id="31" name="Text 29"/>
          <p:cNvSpPr/>
          <p:nvPr/>
        </p:nvSpPr>
        <p:spPr>
          <a:xfrm>
            <a:off x="9674352" y="2880360"/>
            <a:ext cx="1737360" cy="1874520"/>
          </a:xfrm>
          <a:prstGeom prst="rect">
            <a:avLst/>
          </a:prstGeom>
          <a:noFill/>
          <a:ln/>
        </p:spPr>
        <p:txBody>
          <a:bodyPr wrap="square" rtlCol="0" anchor="ctr"/>
          <a:lstStyle/>
          <a:p>
            <a:pPr algn="l" indent="0" marL="0">
              <a:lnSpc>
                <a:spcPct val="108000"/>
              </a:lnSpc>
              <a:buNone/>
            </a:pPr>
            <a:r>
              <a:rPr lang="en-US" sz="950" dirty="0">
                <a:solidFill>
                  <a:srgbClr val="44506B"/>
                </a:solidFill>
                <a:latin typeface="Calibri" pitchFamily="34" charset="0"/>
                <a:ea typeface="Calibri" pitchFamily="34" charset="-122"/>
                <a:cs typeface="Calibri" pitchFamily="34" charset="-120"/>
              </a:rPr>
              <a:t>Accuracy, precision, recall, F1-score, ROC-AUC</a:t>
            </a:r>
            <a:endParaRPr lang="en-US" sz="950" dirty="0"/>
          </a:p>
        </p:txBody>
      </p:sp>
      <p:sp>
        <p:nvSpPr>
          <p:cNvPr id="32" name="Shape 30"/>
          <p:cNvSpPr/>
          <p:nvPr/>
        </p:nvSpPr>
        <p:spPr>
          <a:xfrm>
            <a:off x="640080" y="5349240"/>
            <a:ext cx="10881360" cy="1097280"/>
          </a:xfrm>
          <a:prstGeom prst="roundRect">
            <a:avLst>
              <a:gd name="adj" fmla="val 5000"/>
            </a:avLst>
          </a:prstGeom>
          <a:solidFill>
            <a:srgbClr val="121E38"/>
          </a:solidFill>
          <a:ln/>
        </p:spPr>
      </p:sp>
      <p:sp>
        <p:nvSpPr>
          <p:cNvPr id="33" name="Text 31"/>
          <p:cNvSpPr/>
          <p:nvPr/>
        </p:nvSpPr>
        <p:spPr>
          <a:xfrm>
            <a:off x="868680" y="5349240"/>
            <a:ext cx="10424160" cy="1097280"/>
          </a:xfrm>
          <a:prstGeom prst="rect">
            <a:avLst/>
          </a:prstGeom>
          <a:noFill/>
          <a:ln/>
        </p:spPr>
        <p:txBody>
          <a:bodyPr wrap="square" rtlCol="0" anchor="ctr"/>
          <a:lstStyle/>
          <a:p>
            <a:pPr indent="0" marL="0">
              <a:lnSpc>
                <a:spcPct val="108000"/>
              </a:lnSpc>
              <a:buNone/>
            </a:pPr>
            <a:r>
              <a:rPr lang="en-US" sz="1050" b="1" dirty="0">
                <a:solidFill>
                  <a:srgbClr val="F76C5E"/>
                </a:solidFill>
                <a:latin typeface="Calibri" pitchFamily="34" charset="0"/>
                <a:ea typeface="Calibri" pitchFamily="34" charset="-122"/>
                <a:cs typeface="Calibri" pitchFamily="34" charset="-120"/>
              </a:rPr>
              <a:t>Why combine two models:  </a:t>
            </a:r>
            <a:pPr indent="0" marL="0">
              <a:lnSpc>
                <a:spcPct val="108000"/>
              </a:lnSpc>
              <a:buNone/>
            </a:pPr>
            <a:r>
              <a:rPr lang="en-US" sz="1050" dirty="0">
                <a:solidFill>
                  <a:srgbClr val="FFFFFF"/>
                </a:solidFill>
                <a:latin typeface="Calibri" pitchFamily="34" charset="0"/>
                <a:ea typeface="Calibri" pitchFamily="34" charset="-122"/>
                <a:cs typeface="Calibri" pitchFamily="34" charset="-120"/>
              </a:rPr>
              <a:t>Logistic Regression offers interpretability and learns known fraud patterns from labeled data. Isolation Forest needs no labels and can flag new, previously unseen fraud types by isolating anomalies. Combining both maximizes rare-fraud detection while keeping false positives low.</a:t>
            </a:r>
            <a:endParaRPr lang="en-US" sz="1050" dirty="0"/>
          </a:p>
        </p:txBody>
      </p:sp>
      <p:sp>
        <p:nvSpPr>
          <p:cNvPr id="34" name="Text 32"/>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9AA3BD"/>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E38"/>
        </a:solidFill>
      </p:bgPr>
    </p:bg>
    <p:spTree>
      <p:nvGrpSpPr>
        <p:cNvPr id="1" name=""/>
        <p:cNvGrpSpPr/>
        <p:nvPr/>
      </p:nvGrpSpPr>
      <p:grpSpPr>
        <a:xfrm>
          <a:off x="0" y="0"/>
          <a:ext cx="0" cy="0"/>
          <a:chOff x="0" y="0"/>
          <a:chExt cx="0" cy="0"/>
        </a:xfrm>
      </p:grpSpPr>
      <p:sp>
        <p:nvSpPr>
          <p:cNvPr id="2" name="Shape 0"/>
          <p:cNvSpPr/>
          <p:nvPr/>
        </p:nvSpPr>
        <p:spPr>
          <a:xfrm>
            <a:off x="9692640" y="-2011680"/>
            <a:ext cx="5943600" cy="5943600"/>
          </a:xfrm>
          <a:prstGeom prst="ellipse">
            <a:avLst/>
          </a:prstGeom>
          <a:solidFill>
            <a:srgbClr val="182645"/>
          </a:solidFill>
          <a:ln/>
        </p:spPr>
      </p:sp>
      <p:sp>
        <p:nvSpPr>
          <p:cNvPr id="3" name="Shape 1"/>
          <p:cNvSpPr/>
          <p:nvPr/>
        </p:nvSpPr>
        <p:spPr>
          <a:xfrm>
            <a:off x="-2286000" y="4206240"/>
            <a:ext cx="4389120" cy="4389120"/>
          </a:xfrm>
          <a:prstGeom prst="ellipse">
            <a:avLst/>
          </a:prstGeom>
          <a:solidFill>
            <a:srgbClr val="182645"/>
          </a:solidFill>
          <a:ln/>
        </p:spPr>
      </p:sp>
      <p:sp>
        <p:nvSpPr>
          <p:cNvPr id="4" name="Text 2"/>
          <p:cNvSpPr/>
          <p:nvPr/>
        </p:nvSpPr>
        <p:spPr>
          <a:xfrm>
            <a:off x="0" y="2880360"/>
            <a:ext cx="12191695" cy="1097280"/>
          </a:xfrm>
          <a:prstGeom prst="rect">
            <a:avLst/>
          </a:prstGeom>
          <a:noFill/>
          <a:ln/>
        </p:spPr>
        <p:txBody>
          <a:bodyPr wrap="square" rtlCol="0" anchor="ctr"/>
          <a:lstStyle/>
          <a:p>
            <a:pPr algn="ctr" indent="0" marL="0">
              <a:buNone/>
            </a:pPr>
            <a:r>
              <a:rPr lang="en-US" sz="4800" b="1" spc="300" kern="0" dirty="0">
                <a:solidFill>
                  <a:srgbClr val="FFFFFF"/>
                </a:solidFill>
                <a:latin typeface="Cambria" pitchFamily="34" charset="0"/>
                <a:ea typeface="Cambria" pitchFamily="34" charset="-122"/>
                <a:cs typeface="Cambria" pitchFamily="34" charset="-120"/>
              </a:rPr>
              <a:t>THANK YOU</a:t>
            </a:r>
            <a:endParaRPr lang="en-US" sz="4800" dirty="0"/>
          </a:p>
        </p:txBody>
      </p:sp>
      <p:sp>
        <p:nvSpPr>
          <p:cNvPr id="5" name="Shape 3"/>
          <p:cNvSpPr/>
          <p:nvPr/>
        </p:nvSpPr>
        <p:spPr>
          <a:xfrm>
            <a:off x="5547208" y="3977640"/>
            <a:ext cx="1097280" cy="32004"/>
          </a:xfrm>
          <a:prstGeom prst="rect">
            <a:avLst/>
          </a:prstGeom>
          <a:solidFill>
            <a:srgbClr val="F76C5E"/>
          </a:solidFill>
          <a:ln/>
        </p:spPr>
      </p:sp>
      <p:sp>
        <p:nvSpPr>
          <p:cNvPr id="6" name="Text 4"/>
          <p:cNvSpPr/>
          <p:nvPr/>
        </p:nvSpPr>
        <p:spPr>
          <a:xfrm>
            <a:off x="0" y="4160520"/>
            <a:ext cx="12191695" cy="457200"/>
          </a:xfrm>
          <a:prstGeom prst="rect">
            <a:avLst/>
          </a:prstGeom>
          <a:noFill/>
          <a:ln/>
        </p:spPr>
        <p:txBody>
          <a:bodyPr wrap="square" rtlCol="0" anchor="ctr"/>
          <a:lstStyle/>
          <a:p>
            <a:pPr algn="ctr" indent="0" marL="0">
              <a:buNone/>
            </a:pPr>
            <a:r>
              <a:rPr lang="en-US" sz="1300" dirty="0">
                <a:solidFill>
                  <a:srgbClr val="C7CEE0"/>
                </a:solidFill>
                <a:latin typeface="Calibri" pitchFamily="34" charset="0"/>
                <a:ea typeface="Calibri" pitchFamily="34" charset="-122"/>
                <a:cs typeface="Calibri" pitchFamily="34" charset="-120"/>
              </a:rPr>
              <a:t>Credit Card Fraud Detection — Section 8, Batch 4</a:t>
            </a:r>
            <a:endParaRPr lang="en-US" sz="1300" dirty="0"/>
          </a:p>
        </p:txBody>
      </p:sp>
      <p:sp>
        <p:nvSpPr>
          <p:cNvPr id="7" name="Text 5"/>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9AA3BD"/>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2026-08-28T06:03:44Z</dcterms:created>
  <dcterms:modified xsi:type="dcterms:W3CDTF">2026-08-28T06:03:44Z</dcterms:modified>
</cp:coreProperties>
</file>